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2" r:id="rId16"/>
    <p:sldId id="274" r:id="rId17"/>
    <p:sldId id="275" r:id="rId18"/>
    <p:sldId id="276" r:id="rId19"/>
    <p:sldId id="277" r:id="rId20"/>
    <p:sldId id="278" r:id="rId21"/>
    <p:sldId id="279" r:id="rId22"/>
    <p:sldId id="28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FDBB4-E52A-4654-B6BC-E071FF35A9CF}" v="96" dt="2025-12-11T16:10:56.692"/>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1" d="100"/>
          <a:sy n="51" d="100"/>
        </p:scale>
        <p:origin x="11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6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A7E939EE-CC81-4113-86E5-99C644CC70D8}" type="datetimeFigureOut">
              <a:rPr lang="en-IN" smtClean="0"/>
              <a:t>11-12-2025</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vert="horz" lIns="45720" tIns="45720" rIns="45720" bIns="45720" rtlCol="0" anchor="ctr">
            <a:normAutofit/>
          </a:bodyPr>
          <a:lstStyle>
            <a:lvl1pPr>
              <a:defRPr lang="en-US"/>
            </a:lvl1pPr>
          </a:lstStyle>
          <a:p>
            <a:fld id="{96FA1154-83E3-4222-BAFF-522728386759}" type="slidenum">
              <a:rPr lang="en-IN" smtClean="0"/>
              <a:t>‹#›</a:t>
            </a:fld>
            <a:endParaRPr lang="en-IN"/>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33930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E939EE-CC81-4113-86E5-99C644CC70D8}"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1688121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E939EE-CC81-4113-86E5-99C644CC70D8}"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FA1154-83E3-4222-BAFF-522728386759}" type="slidenum">
              <a:rPr lang="en-IN" smtClean="0"/>
              <a:t>‹#›</a:t>
            </a:fld>
            <a:endParaRPr lang="en-IN"/>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71450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E939EE-CC81-4113-86E5-99C644CC70D8}"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359109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7879"/>
            <a:ext cx="4480560" cy="731520"/>
          </a:xfrm>
        </p:spPr>
        <p:txBody>
          <a:bodyPr anchor="b">
            <a:normAutofit/>
          </a:bodyPr>
          <a:lstStyle>
            <a:lvl1pPr marL="0" indent="0">
              <a:spcBef>
                <a:spcPts val="0"/>
              </a:spcBef>
              <a:buNone/>
              <a:defRPr sz="2000" b="0">
                <a:solidFill>
                  <a:schemeClr val="tx1">
                    <a:lumMod val="6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p:nvPr>
        </p:nvSpPr>
        <p:spPr>
          <a:xfrm>
            <a:off x="6126480" y="1717879"/>
            <a:ext cx="4480560" cy="731520"/>
          </a:xfrm>
        </p:spPr>
        <p:txBody>
          <a:bodyPr anchor="b">
            <a:normAutofit/>
          </a:bodyPr>
          <a:lstStyle>
            <a:lvl1pPr marL="0" indent="0">
              <a:spcBef>
                <a:spcPts val="0"/>
              </a:spcBef>
              <a:buFontTx/>
              <a:buNone/>
              <a:defRPr lang="en-US" sz="2000" b="0" kern="1200" spc="10" baseline="0" dirty="0">
                <a:solidFill>
                  <a:schemeClr val="tx1">
                    <a:lumMod val="65000"/>
                  </a:schemeClr>
                </a:solidFill>
                <a:latin typeface="+mn-lt"/>
                <a:ea typeface="+mn-ea"/>
                <a:cs typeface="+mn-cs"/>
              </a:defRPr>
            </a:lvl1pPr>
          </a:lstStyle>
          <a:p>
            <a:pPr lvl="0"/>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E939EE-CC81-4113-86E5-99C644CC70D8}" type="datetimeFigureOut">
              <a:rPr lang="en-IN" smtClean="0"/>
              <a:t>11-12-2025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1836626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E939EE-CC81-4113-86E5-99C644CC70D8}" type="datetimeFigureOut">
              <a:rPr lang="en-IN" smtClean="0"/>
              <a:t>11-12-2025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3021325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E939EE-CC81-4113-86E5-99C644CC70D8}" type="datetimeFigureOut">
              <a:rPr lang="en-IN" smtClean="0"/>
              <a:t>11-12-2025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575140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E939EE-CC81-4113-86E5-99C644CC70D8}"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2803526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E939EE-CC81-4113-86E5-99C644CC70D8}"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4223150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E939EE-CC81-4113-86E5-99C644CC70D8}"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317902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E939EE-CC81-4113-86E5-99C644CC70D8}"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FA1154-83E3-4222-BAFF-522728386759}" type="slidenum">
              <a:rPr lang="en-IN" smtClean="0"/>
              <a:t>‹#›</a:t>
            </a:fld>
            <a:endParaRPr lang="en-IN"/>
          </a:p>
        </p:txBody>
      </p:sp>
    </p:spTree>
    <p:extLst>
      <p:ext uri="{BB962C8B-B14F-4D97-AF65-F5344CB8AC3E}">
        <p14:creationId xmlns:p14="http://schemas.microsoft.com/office/powerpoint/2010/main" val="2949212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1">
                    <a:lumMod val="50000"/>
                  </a:schemeClr>
                </a:solidFill>
              </a:defRPr>
            </a:lvl1pPr>
          </a:lstStyle>
          <a:p>
            <a:fld id="{A7E939EE-CC81-4113-86E5-99C644CC70D8}" type="datetimeFigureOut">
              <a:rPr lang="en-IN" smtClean="0"/>
              <a:t>11-12-2025</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rgbClr val="969696"/>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rgbClr val="777777"/>
                </a:solidFill>
              </a:defRPr>
            </a:lvl1pPr>
          </a:lstStyle>
          <a:p>
            <a:fld id="{96FA1154-83E3-4222-BAFF-522728386759}" type="slidenum">
              <a:rPr lang="en-IN" smtClean="0"/>
              <a:t>‹#›</a:t>
            </a:fld>
            <a:endParaRPr lang="en-IN"/>
          </a:p>
        </p:txBody>
      </p:sp>
    </p:spTree>
    <p:extLst>
      <p:ext uri="{BB962C8B-B14F-4D97-AF65-F5344CB8AC3E}">
        <p14:creationId xmlns:p14="http://schemas.microsoft.com/office/powerpoint/2010/main" val="72153453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C2789-4715-E6A3-3007-BEF1D03D7A8F}"/>
              </a:ext>
            </a:extLst>
          </p:cNvPr>
          <p:cNvSpPr>
            <a:spLocks noGrp="1"/>
          </p:cNvSpPr>
          <p:nvPr>
            <p:ph type="ctrTitle"/>
          </p:nvPr>
        </p:nvSpPr>
        <p:spPr>
          <a:xfrm>
            <a:off x="1348636" y="1711087"/>
            <a:ext cx="9144000" cy="2387600"/>
          </a:xfrm>
        </p:spPr>
        <p:txBody>
          <a:bodyPr>
            <a:normAutofit/>
          </a:bodyPr>
          <a:lstStyle/>
          <a:p>
            <a:r>
              <a:rPr lang="en-US" sz="9600" b="1" dirty="0">
                <a:solidFill>
                  <a:schemeClr val="bg2"/>
                </a:solidFill>
                <a:latin typeface="Agency FB" panose="020B0503020202020204" pitchFamily="34" charset="0"/>
              </a:rPr>
              <a:t>MODULE-II</a:t>
            </a:r>
            <a:endParaRPr lang="en-IN" sz="9600" b="1" dirty="0">
              <a:solidFill>
                <a:schemeClr val="bg2"/>
              </a:solidFill>
              <a:latin typeface="Agency FB" panose="020B0503020202020204" pitchFamily="34" charset="0"/>
            </a:endParaRPr>
          </a:p>
        </p:txBody>
      </p:sp>
    </p:spTree>
    <p:extLst>
      <p:ext uri="{BB962C8B-B14F-4D97-AF65-F5344CB8AC3E}">
        <p14:creationId xmlns:p14="http://schemas.microsoft.com/office/powerpoint/2010/main" val="2613718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3BCFA31-79AE-3DE3-C681-5F53A5C70C95}"/>
              </a:ext>
            </a:extLst>
          </p:cNvPr>
          <p:cNvSpPr txBox="1"/>
          <p:nvPr/>
        </p:nvSpPr>
        <p:spPr>
          <a:xfrm>
            <a:off x="551051" y="1117359"/>
            <a:ext cx="10208807" cy="3785652"/>
          </a:xfrm>
          <a:prstGeom prst="rect">
            <a:avLst/>
          </a:prstGeom>
          <a:noFill/>
        </p:spPr>
        <p:txBody>
          <a:bodyPr wrap="square" rtlCol="0">
            <a:spAutoFit/>
          </a:bodyPr>
          <a:lstStyle/>
          <a:p>
            <a:pPr defTabSz="914400">
              <a:buClr>
                <a:srgbClr val="000000"/>
              </a:buClr>
              <a:buFont typeface="Arial"/>
              <a:buNone/>
            </a:pPr>
            <a:r>
              <a:rPr lang="en-US" sz="2400" b="1" kern="0" dirty="0">
                <a:solidFill>
                  <a:srgbClr val="000000"/>
                </a:solidFill>
                <a:latin typeface="Times New Roman" panose="02020603050405020304" pitchFamily="18" charset="0"/>
                <a:cs typeface="Times New Roman" panose="02020603050405020304" pitchFamily="18" charset="0"/>
                <a:sym typeface="Arial"/>
              </a:rPr>
              <a:t>SYLLABUS: Module-2</a:t>
            </a:r>
          </a:p>
          <a:p>
            <a:pPr defTabSz="914400">
              <a:buClr>
                <a:srgbClr val="000000"/>
              </a:buClr>
              <a:buFont typeface="Arial"/>
              <a:buNone/>
            </a:pPr>
            <a:endParaRPr lang="en-US" sz="2400" kern="0" dirty="0">
              <a:solidFill>
                <a:srgbClr val="000000"/>
              </a:solidFill>
              <a:latin typeface="Times New Roman" panose="02020603050405020304" pitchFamily="18" charset="0"/>
              <a:cs typeface="Times New Roman" panose="02020603050405020304" pitchFamily="18" charset="0"/>
              <a:sym typeface="Arial"/>
            </a:endParaRPr>
          </a:p>
          <a:p>
            <a:pPr defTabSz="914400">
              <a:buClr>
                <a:srgbClr val="000000"/>
              </a:buClr>
              <a:buFont typeface="Arial"/>
              <a:buNone/>
            </a:pPr>
            <a:r>
              <a:rPr lang="en-US" sz="2400" b="1" kern="0" dirty="0">
                <a:solidFill>
                  <a:srgbClr val="000000"/>
                </a:solidFill>
                <a:latin typeface="Times New Roman" panose="02020603050405020304" pitchFamily="18" charset="0"/>
                <a:cs typeface="Times New Roman" panose="02020603050405020304" pitchFamily="18" charset="0"/>
                <a:sym typeface="Arial"/>
              </a:rPr>
              <a:t>The old way and the new: </a:t>
            </a:r>
          </a:p>
          <a:p>
            <a:pPr defTabSz="914400">
              <a:buClr>
                <a:srgbClr val="000000"/>
              </a:buClr>
              <a:buFont typeface="Arial"/>
              <a:buNone/>
            </a:pPr>
            <a:r>
              <a:rPr lang="en-US" sz="2400" kern="0" dirty="0">
                <a:solidFill>
                  <a:srgbClr val="000000"/>
                </a:solidFill>
                <a:latin typeface="Times New Roman" panose="02020603050405020304" pitchFamily="18" charset="0"/>
                <a:cs typeface="Times New Roman" panose="02020603050405020304" pitchFamily="18" charset="0"/>
                <a:sym typeface="Arial"/>
              </a:rPr>
              <a:t>The principles of conventional software Engineering, principles of moderns of tare management, transitioning to an iterative process. </a:t>
            </a:r>
          </a:p>
          <a:p>
            <a:pPr defTabSz="914400">
              <a:buClr>
                <a:srgbClr val="000000"/>
              </a:buClr>
              <a:buFont typeface="Arial"/>
              <a:buNone/>
            </a:pPr>
            <a:r>
              <a:rPr lang="en-US" sz="2400" b="1" kern="0" dirty="0">
                <a:solidFill>
                  <a:srgbClr val="000000"/>
                </a:solidFill>
                <a:latin typeface="Times New Roman" panose="02020603050405020304" pitchFamily="18" charset="0"/>
                <a:cs typeface="Times New Roman" panose="02020603050405020304" pitchFamily="18" charset="0"/>
                <a:sym typeface="Arial"/>
              </a:rPr>
              <a:t>Life Cycle Phases: </a:t>
            </a:r>
          </a:p>
          <a:p>
            <a:pPr defTabSz="914400">
              <a:buClr>
                <a:srgbClr val="000000"/>
              </a:buClr>
              <a:buFont typeface="Arial"/>
              <a:buNone/>
            </a:pPr>
            <a:r>
              <a:rPr lang="en-US" sz="2400" kern="0" dirty="0">
                <a:solidFill>
                  <a:srgbClr val="000000"/>
                </a:solidFill>
                <a:latin typeface="Times New Roman" panose="02020603050405020304" pitchFamily="18" charset="0"/>
                <a:cs typeface="Times New Roman" panose="02020603050405020304" pitchFamily="18" charset="0"/>
                <a:sym typeface="Arial"/>
              </a:rPr>
              <a:t>Engineering and production stages, inception, Elaboration, construction, transition phases.</a:t>
            </a:r>
          </a:p>
          <a:p>
            <a:pPr defTabSz="914400">
              <a:buClr>
                <a:srgbClr val="000000"/>
              </a:buClr>
              <a:buFont typeface="Arial"/>
              <a:buNone/>
            </a:pPr>
            <a:r>
              <a:rPr lang="en-US" sz="2400" b="1" kern="0" dirty="0">
                <a:solidFill>
                  <a:srgbClr val="000000"/>
                </a:solidFill>
                <a:latin typeface="Times New Roman" panose="02020603050405020304" pitchFamily="18" charset="0"/>
                <a:cs typeface="Times New Roman" panose="02020603050405020304" pitchFamily="18" charset="0"/>
                <a:sym typeface="Arial"/>
              </a:rPr>
              <a:t>Arte facts of the process: </a:t>
            </a:r>
          </a:p>
          <a:p>
            <a:pPr defTabSz="914400">
              <a:buClr>
                <a:srgbClr val="000000"/>
              </a:buClr>
              <a:buFont typeface="Arial"/>
              <a:buNone/>
            </a:pPr>
            <a:r>
              <a:rPr lang="en-US" sz="2400" kern="0" dirty="0">
                <a:solidFill>
                  <a:srgbClr val="000000"/>
                </a:solidFill>
                <a:latin typeface="Times New Roman" panose="02020603050405020304" pitchFamily="18" charset="0"/>
                <a:cs typeface="Times New Roman" panose="02020603050405020304" pitchFamily="18" charset="0"/>
                <a:sym typeface="Arial"/>
              </a:rPr>
              <a:t>Their artifacts, Engineering artifacts, programming artifacts </a:t>
            </a:r>
            <a:endParaRPr lang="en-IN" sz="2400" kern="0" dirty="0">
              <a:solidFill>
                <a:srgbClr val="000000"/>
              </a:solidFill>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3334524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C0BD5-6F53-F367-C80D-BF08DDD78773}"/>
              </a:ext>
            </a:extLst>
          </p:cNvPr>
          <p:cNvSpPr txBox="1"/>
          <p:nvPr/>
        </p:nvSpPr>
        <p:spPr>
          <a:xfrm>
            <a:off x="184758" y="141010"/>
            <a:ext cx="9685751" cy="461665"/>
          </a:xfrm>
          <a:prstGeom prst="rect">
            <a:avLst/>
          </a:prstGeom>
          <a:noFill/>
        </p:spPr>
        <p:txBody>
          <a:bodyPr wrap="square">
            <a:spAutoFit/>
          </a:bodyPr>
          <a:lstStyle/>
          <a:p>
            <a:r>
              <a:rPr lang="en-US" sz="2400" b="1" kern="0" dirty="0">
                <a:solidFill>
                  <a:srgbClr val="000000"/>
                </a:solidFill>
                <a:latin typeface="Sitka Small" pitchFamily="2" charset="0"/>
                <a:cs typeface="Times New Roman" panose="02020603050405020304" pitchFamily="18" charset="0"/>
                <a:sym typeface="Arial"/>
              </a:rPr>
              <a:t>The principles of Conventional Software Engineering:</a:t>
            </a:r>
            <a:endParaRPr lang="en-IN" sz="2400" b="1" dirty="0">
              <a:latin typeface="Sitka Small" pitchFamily="2" charset="0"/>
            </a:endParaRPr>
          </a:p>
        </p:txBody>
      </p:sp>
      <p:sp>
        <p:nvSpPr>
          <p:cNvPr id="9" name="TextBox 8">
            <a:extLst>
              <a:ext uri="{FF2B5EF4-FFF2-40B4-BE49-F238E27FC236}">
                <a16:creationId xmlns:a16="http://schemas.microsoft.com/office/drawing/2014/main" id="{D2F934C6-2542-E567-EEEA-186BB105D8EF}"/>
              </a:ext>
            </a:extLst>
          </p:cNvPr>
          <p:cNvSpPr txBox="1"/>
          <p:nvPr/>
        </p:nvSpPr>
        <p:spPr>
          <a:xfrm>
            <a:off x="184758" y="737268"/>
            <a:ext cx="10737938" cy="1938992"/>
          </a:xfrm>
          <a:prstGeom prst="rect">
            <a:avLst/>
          </a:prstGeom>
          <a:noFill/>
        </p:spPr>
        <p:txBody>
          <a:bodyPr wrap="square">
            <a:spAutoFit/>
          </a:bodyPr>
          <a:lstStyle/>
          <a:p>
            <a:pPr algn="just">
              <a:buNone/>
            </a:pPr>
            <a:r>
              <a:rPr lang="en-US" sz="2400" dirty="0">
                <a:solidFill>
                  <a:schemeClr val="bg2"/>
                </a:solidFill>
                <a:latin typeface="Times New Roman" panose="02020603050405020304" pitchFamily="18" charset="0"/>
                <a:cs typeface="Times New Roman" panose="02020603050405020304" pitchFamily="18" charset="0"/>
              </a:rPr>
              <a:t>Conventional software engineering principles are </a:t>
            </a:r>
            <a:r>
              <a:rPr lang="en-US" sz="2400" b="1" dirty="0">
                <a:solidFill>
                  <a:schemeClr val="bg2"/>
                </a:solidFill>
                <a:latin typeface="Times New Roman" panose="02020603050405020304" pitchFamily="18" charset="0"/>
                <a:cs typeface="Times New Roman" panose="02020603050405020304" pitchFamily="18" charset="0"/>
              </a:rPr>
              <a:t>basic rules and best practices</a:t>
            </a:r>
            <a:r>
              <a:rPr lang="en-US" sz="2400" dirty="0">
                <a:solidFill>
                  <a:schemeClr val="bg2"/>
                </a:solidFill>
                <a:latin typeface="Times New Roman" panose="02020603050405020304" pitchFamily="18" charset="0"/>
                <a:cs typeface="Times New Roman" panose="02020603050405020304" pitchFamily="18" charset="0"/>
              </a:rPr>
              <a:t> that guide how software should be built so it works well, is easy to fix or improve, and lasts a long time.</a:t>
            </a:r>
          </a:p>
          <a:p>
            <a:pPr algn="just">
              <a:buNone/>
            </a:pPr>
            <a:r>
              <a:rPr lang="en-US" sz="2400" dirty="0">
                <a:solidFill>
                  <a:schemeClr val="bg2"/>
                </a:solidFill>
                <a:latin typeface="Times New Roman" panose="02020603050405020304" pitchFamily="18" charset="0"/>
                <a:cs typeface="Times New Roman" panose="02020603050405020304" pitchFamily="18" charset="0"/>
              </a:rPr>
              <a:t>Think of them like the "dos and don’ts" of building software — they help developers avoid common mistakes and make sure the final product is reliable and efficient.</a:t>
            </a:r>
          </a:p>
        </p:txBody>
      </p:sp>
      <p:sp>
        <p:nvSpPr>
          <p:cNvPr id="12" name="TextBox 11">
            <a:extLst>
              <a:ext uri="{FF2B5EF4-FFF2-40B4-BE49-F238E27FC236}">
                <a16:creationId xmlns:a16="http://schemas.microsoft.com/office/drawing/2014/main" id="{83DE68DD-BFCD-412A-019D-6270B159E1D8}"/>
              </a:ext>
            </a:extLst>
          </p:cNvPr>
          <p:cNvSpPr txBox="1"/>
          <p:nvPr/>
        </p:nvSpPr>
        <p:spPr>
          <a:xfrm>
            <a:off x="184758" y="2676260"/>
            <a:ext cx="10825620" cy="48320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200" b="1" dirty="0">
                <a:solidFill>
                  <a:schemeClr val="bg2"/>
                </a:solidFill>
                <a:latin typeface="Times New Roman" panose="02020603050405020304" pitchFamily="18" charset="0"/>
                <a:cs typeface="Times New Roman" panose="02020603050405020304" pitchFamily="18" charset="0"/>
              </a:rPr>
              <a:t>1. </a:t>
            </a:r>
            <a:r>
              <a:rPr kumimoji="0" lang="en-US" altLang="en-US" sz="2200" b="1" i="0" u="none" strike="noStrike" cap="none" normalizeH="0" baseline="0" dirty="0">
                <a:ln>
                  <a:noFill/>
                </a:ln>
                <a:solidFill>
                  <a:schemeClr val="bg2"/>
                </a:solidFill>
                <a:effectLst/>
                <a:latin typeface="Times New Roman" panose="02020603050405020304" pitchFamily="18" charset="0"/>
                <a:cs typeface="Times New Roman" panose="02020603050405020304" pitchFamily="18" charset="0"/>
              </a:rPr>
              <a:t>Make Quality #1:</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chemeClr val="bg2"/>
                </a:solidFill>
                <a:effectLst/>
                <a:latin typeface="Times New Roman" panose="02020603050405020304" pitchFamily="18" charset="0"/>
                <a:cs typeface="Times New Roman" panose="02020603050405020304" pitchFamily="18" charset="0"/>
              </a:rPr>
              <a:t> Quality must be planned, measured, and managed from the beginning.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bg2"/>
              </a:solidFill>
              <a:effectLst/>
              <a:latin typeface="Times New Roman" panose="02020603050405020304" pitchFamily="18" charset="0"/>
              <a:cs typeface="Times New Roman" panose="02020603050405020304" pitchFamily="18" charset="0"/>
            </a:endParaRPr>
          </a:p>
          <a:p>
            <a:r>
              <a:rPr lang="en-US" sz="2200" b="1" dirty="0">
                <a:solidFill>
                  <a:schemeClr val="bg2"/>
                </a:solidFill>
                <a:latin typeface="Times New Roman" panose="02020603050405020304" pitchFamily="18" charset="0"/>
                <a:cs typeface="Times New Roman" panose="02020603050405020304" pitchFamily="18" charset="0"/>
              </a:rPr>
              <a:t>2. High-Quality Software Is Possible:</a:t>
            </a:r>
          </a:p>
          <a:p>
            <a:r>
              <a:rPr lang="en-US" sz="2200" dirty="0">
                <a:solidFill>
                  <a:schemeClr val="bg2"/>
                </a:solidFill>
                <a:latin typeface="Times New Roman" panose="02020603050405020304" pitchFamily="18" charset="0"/>
                <a:cs typeface="Times New Roman" panose="02020603050405020304" pitchFamily="18" charset="0"/>
              </a:rPr>
              <a:t>Using customer involvement, prototypes, simple design, and inspections improves quality.</a:t>
            </a:r>
          </a:p>
          <a:p>
            <a:endParaRPr lang="en-US" sz="2200" dirty="0">
              <a:solidFill>
                <a:schemeClr val="bg2"/>
              </a:solidFill>
              <a:latin typeface="Times New Roman" panose="02020603050405020304" pitchFamily="18" charset="0"/>
              <a:cs typeface="Times New Roman" panose="02020603050405020304" pitchFamily="18" charset="0"/>
            </a:endParaRPr>
          </a:p>
          <a:p>
            <a:r>
              <a:rPr lang="en-US" sz="2200" b="1" dirty="0">
                <a:solidFill>
                  <a:schemeClr val="bg2"/>
                </a:solidFill>
                <a:latin typeface="Times New Roman" panose="02020603050405020304" pitchFamily="18" charset="0"/>
                <a:cs typeface="Times New Roman" panose="02020603050405020304" pitchFamily="18" charset="0"/>
              </a:rPr>
              <a:t>3. Give Products to Customers Early:</a:t>
            </a:r>
          </a:p>
          <a:p>
            <a:r>
              <a:rPr lang="en-US" sz="2200" dirty="0">
                <a:solidFill>
                  <a:schemeClr val="bg2"/>
                </a:solidFill>
                <a:latin typeface="Times New Roman" panose="02020603050405020304" pitchFamily="18" charset="0"/>
                <a:cs typeface="Times New Roman" panose="02020603050405020304" pitchFamily="18" charset="0"/>
              </a:rPr>
              <a:t>Provide early versions/demos so the customer can test and give feedback.</a:t>
            </a:r>
            <a:br>
              <a:rPr lang="en-US" sz="2200" dirty="0">
                <a:solidFill>
                  <a:schemeClr val="bg2"/>
                </a:solidFill>
                <a:latin typeface="Times New Roman" panose="02020603050405020304" pitchFamily="18" charset="0"/>
                <a:cs typeface="Times New Roman" panose="02020603050405020304" pitchFamily="18" charset="0"/>
              </a:rPr>
            </a:br>
            <a:endParaRPr lang="en-US" sz="2200" dirty="0">
              <a:solidFill>
                <a:schemeClr val="bg2"/>
              </a:solidFill>
              <a:latin typeface="Times New Roman" panose="02020603050405020304" pitchFamily="18" charset="0"/>
              <a:cs typeface="Times New Roman" panose="02020603050405020304" pitchFamily="18" charset="0"/>
            </a:endParaRPr>
          </a:p>
          <a:p>
            <a:r>
              <a:rPr lang="en-US" sz="2200" b="1" dirty="0">
                <a:solidFill>
                  <a:schemeClr val="bg2"/>
                </a:solidFill>
                <a:latin typeface="Times New Roman" panose="02020603050405020304" pitchFamily="18" charset="0"/>
                <a:cs typeface="Times New Roman" panose="02020603050405020304" pitchFamily="18" charset="0"/>
              </a:rPr>
              <a:t>4. Determine the Problem Before Writing Requirements:</a:t>
            </a:r>
          </a:p>
          <a:p>
            <a:r>
              <a:rPr lang="en-US" sz="2200" dirty="0">
                <a:solidFill>
                  <a:schemeClr val="bg2"/>
                </a:solidFill>
                <a:latin typeface="Times New Roman" panose="02020603050405020304" pitchFamily="18" charset="0"/>
                <a:cs typeface="Times New Roman" panose="02020603050405020304" pitchFamily="18" charset="0"/>
              </a:rPr>
              <a:t>Understand the </a:t>
            </a:r>
            <a:r>
              <a:rPr lang="en-US" sz="2200" b="1" dirty="0">
                <a:solidFill>
                  <a:schemeClr val="bg2"/>
                </a:solidFill>
                <a:latin typeface="Times New Roman" panose="02020603050405020304" pitchFamily="18" charset="0"/>
                <a:cs typeface="Times New Roman" panose="02020603050405020304" pitchFamily="18" charset="0"/>
              </a:rPr>
              <a:t>real problem</a:t>
            </a:r>
            <a:r>
              <a:rPr lang="en-US" sz="2200" dirty="0">
                <a:solidFill>
                  <a:schemeClr val="bg2"/>
                </a:solidFill>
                <a:latin typeface="Times New Roman" panose="02020603050405020304" pitchFamily="18" charset="0"/>
                <a:cs typeface="Times New Roman" panose="02020603050405020304" pitchFamily="18" charset="0"/>
              </a:rPr>
              <a:t> instead of rushing to a solution.</a:t>
            </a:r>
            <a:br>
              <a:rPr lang="en-US" sz="2200" dirty="0">
                <a:solidFill>
                  <a:schemeClr val="bg2"/>
                </a:solidFill>
                <a:latin typeface="Times New Roman" panose="02020603050405020304" pitchFamily="18" charset="0"/>
                <a:cs typeface="Times New Roman" panose="02020603050405020304" pitchFamily="18" charset="0"/>
              </a:rPr>
            </a:br>
            <a:r>
              <a:rPr lang="en-US" sz="2200" dirty="0">
                <a:solidFill>
                  <a:schemeClr val="bg2"/>
                </a:solidFill>
                <a:latin typeface="Times New Roman" panose="02020603050405020304" pitchFamily="18" charset="0"/>
                <a:cs typeface="Times New Roman" panose="02020603050405020304" pitchFamily="18" charset="0"/>
              </a:rPr>
              <a:t>Explore all alternatives before deciding.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bg2"/>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bg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325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6AB509-CA8F-10B8-3A5D-DAFE80942872}"/>
              </a:ext>
            </a:extLst>
          </p:cNvPr>
          <p:cNvSpPr/>
          <p:nvPr/>
        </p:nvSpPr>
        <p:spPr>
          <a:xfrm>
            <a:off x="1215024" y="1015914"/>
            <a:ext cx="2492680" cy="739035"/>
          </a:xfrm>
          <a:prstGeom prst="rect">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IN" dirty="0">
                <a:solidFill>
                  <a:schemeClr val="bg2"/>
                </a:solidFill>
              </a:rPr>
              <a:t>Make Quality #1</a:t>
            </a:r>
          </a:p>
        </p:txBody>
      </p:sp>
      <p:sp>
        <p:nvSpPr>
          <p:cNvPr id="5" name="Rectangle 4">
            <a:extLst>
              <a:ext uri="{FF2B5EF4-FFF2-40B4-BE49-F238E27FC236}">
                <a16:creationId xmlns:a16="http://schemas.microsoft.com/office/drawing/2014/main" id="{86FDC08C-DACA-36BC-E2D9-F60CE71A0B20}"/>
              </a:ext>
            </a:extLst>
          </p:cNvPr>
          <p:cNvSpPr/>
          <p:nvPr/>
        </p:nvSpPr>
        <p:spPr>
          <a:xfrm>
            <a:off x="1215024" y="2013300"/>
            <a:ext cx="2492680" cy="73903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IN" dirty="0">
                <a:solidFill>
                  <a:schemeClr val="bg2"/>
                </a:solidFill>
              </a:rPr>
              <a:t>High-Quality Software Is Possible</a:t>
            </a:r>
          </a:p>
        </p:txBody>
      </p:sp>
      <p:sp>
        <p:nvSpPr>
          <p:cNvPr id="8" name="Rectangle 7">
            <a:extLst>
              <a:ext uri="{FF2B5EF4-FFF2-40B4-BE49-F238E27FC236}">
                <a16:creationId xmlns:a16="http://schemas.microsoft.com/office/drawing/2014/main" id="{7DB61FA3-4400-7DE7-D2D3-45A953DB3DDA}"/>
              </a:ext>
            </a:extLst>
          </p:cNvPr>
          <p:cNvSpPr/>
          <p:nvPr/>
        </p:nvSpPr>
        <p:spPr>
          <a:xfrm>
            <a:off x="1215024" y="3065485"/>
            <a:ext cx="2492680" cy="73903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dirty="0">
                <a:solidFill>
                  <a:schemeClr val="bg2"/>
                </a:solidFill>
              </a:rPr>
              <a:t>Give Products to Customers Early</a:t>
            </a:r>
            <a:endParaRPr lang="en-IN" dirty="0">
              <a:solidFill>
                <a:schemeClr val="bg2"/>
              </a:solidFill>
            </a:endParaRPr>
          </a:p>
        </p:txBody>
      </p:sp>
      <p:sp>
        <p:nvSpPr>
          <p:cNvPr id="9" name="Rectangle 8">
            <a:extLst>
              <a:ext uri="{FF2B5EF4-FFF2-40B4-BE49-F238E27FC236}">
                <a16:creationId xmlns:a16="http://schemas.microsoft.com/office/drawing/2014/main" id="{D45B6432-835E-BB65-94D2-6462820F6940}"/>
              </a:ext>
            </a:extLst>
          </p:cNvPr>
          <p:cNvSpPr/>
          <p:nvPr/>
        </p:nvSpPr>
        <p:spPr>
          <a:xfrm>
            <a:off x="1215024" y="4230666"/>
            <a:ext cx="2492680" cy="1148219"/>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dirty="0">
                <a:solidFill>
                  <a:schemeClr val="bg2"/>
                </a:solidFill>
              </a:rPr>
              <a:t>Determine the Problem Before Writing Requirements</a:t>
            </a:r>
            <a:endParaRPr lang="en-IN" dirty="0">
              <a:solidFill>
                <a:schemeClr val="bg2"/>
              </a:solidFill>
            </a:endParaRPr>
          </a:p>
        </p:txBody>
      </p:sp>
      <p:sp>
        <p:nvSpPr>
          <p:cNvPr id="10" name="Rectangle 9">
            <a:extLst>
              <a:ext uri="{FF2B5EF4-FFF2-40B4-BE49-F238E27FC236}">
                <a16:creationId xmlns:a16="http://schemas.microsoft.com/office/drawing/2014/main" id="{08D9FDB4-3384-0A31-8041-5A7B43D0D580}"/>
              </a:ext>
            </a:extLst>
          </p:cNvPr>
          <p:cNvSpPr/>
          <p:nvPr/>
        </p:nvSpPr>
        <p:spPr>
          <a:xfrm>
            <a:off x="1215024" y="5805031"/>
            <a:ext cx="2492680" cy="73903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IN" dirty="0">
                <a:solidFill>
                  <a:schemeClr val="bg2"/>
                </a:solidFill>
              </a:rPr>
              <a:t>Evaluate Design Alternatives</a:t>
            </a:r>
          </a:p>
        </p:txBody>
      </p:sp>
      <p:sp>
        <p:nvSpPr>
          <p:cNvPr id="11" name="Rectangle 10">
            <a:extLst>
              <a:ext uri="{FF2B5EF4-FFF2-40B4-BE49-F238E27FC236}">
                <a16:creationId xmlns:a16="http://schemas.microsoft.com/office/drawing/2014/main" id="{826DAA6F-B7D8-0786-B2B9-8CCF28317468}"/>
              </a:ext>
            </a:extLst>
          </p:cNvPr>
          <p:cNvSpPr/>
          <p:nvPr/>
        </p:nvSpPr>
        <p:spPr>
          <a:xfrm>
            <a:off x="7179501" y="1037183"/>
            <a:ext cx="2492680" cy="73903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dirty="0">
                <a:solidFill>
                  <a:schemeClr val="bg2"/>
                </a:solidFill>
              </a:rPr>
              <a:t>Use an Appropriate Process Model</a:t>
            </a:r>
            <a:endParaRPr lang="en-IN" dirty="0">
              <a:solidFill>
                <a:schemeClr val="bg2"/>
              </a:solidFill>
            </a:endParaRPr>
          </a:p>
        </p:txBody>
      </p:sp>
      <p:sp>
        <p:nvSpPr>
          <p:cNvPr id="12" name="Rectangle 11">
            <a:extLst>
              <a:ext uri="{FF2B5EF4-FFF2-40B4-BE49-F238E27FC236}">
                <a16:creationId xmlns:a16="http://schemas.microsoft.com/office/drawing/2014/main" id="{9499CA57-9C57-02D4-DFCA-C3B0CDC6DD09}"/>
              </a:ext>
            </a:extLst>
          </p:cNvPr>
          <p:cNvSpPr/>
          <p:nvPr/>
        </p:nvSpPr>
        <p:spPr>
          <a:xfrm>
            <a:off x="7179501" y="2070450"/>
            <a:ext cx="2492680" cy="73903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IN" dirty="0">
                <a:solidFill>
                  <a:schemeClr val="bg2"/>
                </a:solidFill>
              </a:rPr>
              <a:t>Minimize Intellectual Distance</a:t>
            </a:r>
          </a:p>
        </p:txBody>
      </p:sp>
      <p:sp>
        <p:nvSpPr>
          <p:cNvPr id="13" name="Rectangle 12">
            <a:extLst>
              <a:ext uri="{FF2B5EF4-FFF2-40B4-BE49-F238E27FC236}">
                <a16:creationId xmlns:a16="http://schemas.microsoft.com/office/drawing/2014/main" id="{32B490B0-081E-CF63-2494-21250F71B3E1}"/>
              </a:ext>
            </a:extLst>
          </p:cNvPr>
          <p:cNvSpPr/>
          <p:nvPr/>
        </p:nvSpPr>
        <p:spPr>
          <a:xfrm>
            <a:off x="7179501" y="3218667"/>
            <a:ext cx="2492680" cy="73903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IN" dirty="0">
                <a:solidFill>
                  <a:schemeClr val="bg2"/>
                </a:solidFill>
              </a:rPr>
              <a:t>Put Techniques Before Tools</a:t>
            </a:r>
          </a:p>
        </p:txBody>
      </p:sp>
      <p:sp>
        <p:nvSpPr>
          <p:cNvPr id="14" name="Rectangle 13">
            <a:extLst>
              <a:ext uri="{FF2B5EF4-FFF2-40B4-BE49-F238E27FC236}">
                <a16:creationId xmlns:a16="http://schemas.microsoft.com/office/drawing/2014/main" id="{257B7B0F-580E-5CE7-10F8-24BD715A1D27}"/>
              </a:ext>
            </a:extLst>
          </p:cNvPr>
          <p:cNvSpPr/>
          <p:nvPr/>
        </p:nvSpPr>
        <p:spPr>
          <a:xfrm>
            <a:off x="7179501" y="4456527"/>
            <a:ext cx="2492680" cy="73903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IN" dirty="0">
                <a:solidFill>
                  <a:schemeClr val="bg2"/>
                </a:solidFill>
              </a:rPr>
              <a:t>Inspect Code</a:t>
            </a:r>
          </a:p>
        </p:txBody>
      </p:sp>
      <p:sp>
        <p:nvSpPr>
          <p:cNvPr id="15" name="Rectangle 14">
            <a:extLst>
              <a:ext uri="{FF2B5EF4-FFF2-40B4-BE49-F238E27FC236}">
                <a16:creationId xmlns:a16="http://schemas.microsoft.com/office/drawing/2014/main" id="{E7549F1E-E788-8F86-BB9F-2B62C4660718}"/>
              </a:ext>
            </a:extLst>
          </p:cNvPr>
          <p:cNvSpPr/>
          <p:nvPr/>
        </p:nvSpPr>
        <p:spPr>
          <a:xfrm>
            <a:off x="7179501" y="5694387"/>
            <a:ext cx="2492680" cy="73903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dirty="0">
                <a:solidFill>
                  <a:schemeClr val="bg2"/>
                </a:solidFill>
              </a:rPr>
              <a:t>Get it Right Before Making it Faster</a:t>
            </a:r>
            <a:endParaRPr lang="en-IN" dirty="0">
              <a:solidFill>
                <a:schemeClr val="bg2"/>
              </a:solidFill>
            </a:endParaRPr>
          </a:p>
        </p:txBody>
      </p:sp>
      <p:cxnSp>
        <p:nvCxnSpPr>
          <p:cNvPr id="19" name="Connector: Curved 18">
            <a:extLst>
              <a:ext uri="{FF2B5EF4-FFF2-40B4-BE49-F238E27FC236}">
                <a16:creationId xmlns:a16="http://schemas.microsoft.com/office/drawing/2014/main" id="{645285B8-8DC6-85F2-E812-F18DF710784A}"/>
              </a:ext>
            </a:extLst>
          </p:cNvPr>
          <p:cNvCxnSpPr>
            <a:cxnSpLocks/>
          </p:cNvCxnSpPr>
          <p:nvPr/>
        </p:nvCxnSpPr>
        <p:spPr>
          <a:xfrm>
            <a:off x="9672181" y="1281308"/>
            <a:ext cx="12700" cy="997386"/>
          </a:xfrm>
          <a:prstGeom prst="curvedConnector3">
            <a:avLst>
              <a:gd name="adj1" fmla="val 3969866"/>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22" name="Connector: Curved 21">
            <a:extLst>
              <a:ext uri="{FF2B5EF4-FFF2-40B4-BE49-F238E27FC236}">
                <a16:creationId xmlns:a16="http://schemas.microsoft.com/office/drawing/2014/main" id="{224C1151-54EA-C84D-548C-083AF724F9B7}"/>
              </a:ext>
            </a:extLst>
          </p:cNvPr>
          <p:cNvCxnSpPr/>
          <p:nvPr/>
        </p:nvCxnSpPr>
        <p:spPr>
          <a:xfrm>
            <a:off x="9684881" y="2462668"/>
            <a:ext cx="12700" cy="997386"/>
          </a:xfrm>
          <a:prstGeom prst="curvedConnector3">
            <a:avLst>
              <a:gd name="adj1" fmla="val 3969866"/>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25" name="Connector: Curved 24">
            <a:extLst>
              <a:ext uri="{FF2B5EF4-FFF2-40B4-BE49-F238E27FC236}">
                <a16:creationId xmlns:a16="http://schemas.microsoft.com/office/drawing/2014/main" id="{B443FF4E-E112-B3E4-2CE6-8F186854A034}"/>
              </a:ext>
            </a:extLst>
          </p:cNvPr>
          <p:cNvCxnSpPr>
            <a:cxnSpLocks/>
          </p:cNvCxnSpPr>
          <p:nvPr/>
        </p:nvCxnSpPr>
        <p:spPr>
          <a:xfrm>
            <a:off x="9697581" y="3650029"/>
            <a:ext cx="12700" cy="997386"/>
          </a:xfrm>
          <a:prstGeom prst="curvedConnector3">
            <a:avLst>
              <a:gd name="adj1" fmla="val 3969866"/>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27" name="Connector: Curved 26">
            <a:extLst>
              <a:ext uri="{FF2B5EF4-FFF2-40B4-BE49-F238E27FC236}">
                <a16:creationId xmlns:a16="http://schemas.microsoft.com/office/drawing/2014/main" id="{486E66F9-9D6A-029E-1E62-2D1191F0CBE1}"/>
              </a:ext>
            </a:extLst>
          </p:cNvPr>
          <p:cNvCxnSpPr>
            <a:cxnSpLocks/>
          </p:cNvCxnSpPr>
          <p:nvPr/>
        </p:nvCxnSpPr>
        <p:spPr>
          <a:xfrm>
            <a:off x="9710281" y="4880192"/>
            <a:ext cx="12700" cy="997386"/>
          </a:xfrm>
          <a:prstGeom prst="curvedConnector3">
            <a:avLst>
              <a:gd name="adj1" fmla="val 3969866"/>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28" name="Connector: Curved 27">
            <a:extLst>
              <a:ext uri="{FF2B5EF4-FFF2-40B4-BE49-F238E27FC236}">
                <a16:creationId xmlns:a16="http://schemas.microsoft.com/office/drawing/2014/main" id="{CEF3F740-2D82-74BD-C61A-F5CC19126E69}"/>
              </a:ext>
            </a:extLst>
          </p:cNvPr>
          <p:cNvCxnSpPr>
            <a:cxnSpLocks/>
          </p:cNvCxnSpPr>
          <p:nvPr/>
        </p:nvCxnSpPr>
        <p:spPr>
          <a:xfrm>
            <a:off x="3733104" y="1371078"/>
            <a:ext cx="12700" cy="997386"/>
          </a:xfrm>
          <a:prstGeom prst="curvedConnector3">
            <a:avLst>
              <a:gd name="adj1" fmla="val 3969866"/>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29" name="Connector: Curved 28">
            <a:extLst>
              <a:ext uri="{FF2B5EF4-FFF2-40B4-BE49-F238E27FC236}">
                <a16:creationId xmlns:a16="http://schemas.microsoft.com/office/drawing/2014/main" id="{B8E957F7-1F49-A955-5157-C4AD96913CC3}"/>
              </a:ext>
            </a:extLst>
          </p:cNvPr>
          <p:cNvCxnSpPr/>
          <p:nvPr/>
        </p:nvCxnSpPr>
        <p:spPr>
          <a:xfrm>
            <a:off x="3745804" y="2552438"/>
            <a:ext cx="12700" cy="997386"/>
          </a:xfrm>
          <a:prstGeom prst="curvedConnector3">
            <a:avLst>
              <a:gd name="adj1" fmla="val 3969866"/>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30" name="Connector: Curved 29">
            <a:extLst>
              <a:ext uri="{FF2B5EF4-FFF2-40B4-BE49-F238E27FC236}">
                <a16:creationId xmlns:a16="http://schemas.microsoft.com/office/drawing/2014/main" id="{EBE32AEB-0144-97D3-4682-0F5379499C82}"/>
              </a:ext>
            </a:extLst>
          </p:cNvPr>
          <p:cNvCxnSpPr>
            <a:cxnSpLocks/>
          </p:cNvCxnSpPr>
          <p:nvPr/>
        </p:nvCxnSpPr>
        <p:spPr>
          <a:xfrm>
            <a:off x="3758504" y="3739799"/>
            <a:ext cx="12700" cy="997386"/>
          </a:xfrm>
          <a:prstGeom prst="curvedConnector3">
            <a:avLst>
              <a:gd name="adj1" fmla="val 3969866"/>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31" name="Connector: Curved 30">
            <a:extLst>
              <a:ext uri="{FF2B5EF4-FFF2-40B4-BE49-F238E27FC236}">
                <a16:creationId xmlns:a16="http://schemas.microsoft.com/office/drawing/2014/main" id="{85C69C32-BC22-FEB6-CC01-A35D4A4A390D}"/>
              </a:ext>
            </a:extLst>
          </p:cNvPr>
          <p:cNvCxnSpPr>
            <a:cxnSpLocks/>
          </p:cNvCxnSpPr>
          <p:nvPr/>
        </p:nvCxnSpPr>
        <p:spPr>
          <a:xfrm>
            <a:off x="3771204" y="4969962"/>
            <a:ext cx="12700" cy="997386"/>
          </a:xfrm>
          <a:prstGeom prst="curvedConnector3">
            <a:avLst>
              <a:gd name="adj1" fmla="val 3969866"/>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33" name="Connector: Elbow 32">
            <a:extLst>
              <a:ext uri="{FF2B5EF4-FFF2-40B4-BE49-F238E27FC236}">
                <a16:creationId xmlns:a16="http://schemas.microsoft.com/office/drawing/2014/main" id="{13A43A34-A142-8592-9AF6-4ACD4752B4D9}"/>
              </a:ext>
            </a:extLst>
          </p:cNvPr>
          <p:cNvCxnSpPr>
            <a:stCxn id="10" idx="2"/>
            <a:endCxn id="11" idx="1"/>
          </p:cNvCxnSpPr>
          <p:nvPr/>
        </p:nvCxnSpPr>
        <p:spPr>
          <a:xfrm rot="5400000" flipH="1" flipV="1">
            <a:off x="2251749" y="1616315"/>
            <a:ext cx="5137365" cy="4718137"/>
          </a:xfrm>
          <a:prstGeom prst="bentConnector4">
            <a:avLst>
              <a:gd name="adj1" fmla="val -4450"/>
              <a:gd name="adj2" fmla="val 63208"/>
            </a:avLst>
          </a:prstGeom>
          <a:ln>
            <a:tailEnd type="triangle"/>
          </a:ln>
        </p:spPr>
        <p:style>
          <a:lnRef idx="3">
            <a:schemeClr val="accent6"/>
          </a:lnRef>
          <a:fillRef idx="0">
            <a:schemeClr val="accent6"/>
          </a:fillRef>
          <a:effectRef idx="2">
            <a:schemeClr val="accent6"/>
          </a:effectRef>
          <a:fontRef idx="minor">
            <a:schemeClr val="tx1"/>
          </a:fontRef>
        </p:style>
      </p:cxnSp>
      <p:sp>
        <p:nvSpPr>
          <p:cNvPr id="34" name="Oval 33">
            <a:extLst>
              <a:ext uri="{FF2B5EF4-FFF2-40B4-BE49-F238E27FC236}">
                <a16:creationId xmlns:a16="http://schemas.microsoft.com/office/drawing/2014/main" id="{6A73B325-EA8D-40C1-DA39-5A80E79BA62A}"/>
              </a:ext>
            </a:extLst>
          </p:cNvPr>
          <p:cNvSpPr/>
          <p:nvPr/>
        </p:nvSpPr>
        <p:spPr>
          <a:xfrm>
            <a:off x="926926" y="801666"/>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1</a:t>
            </a:r>
          </a:p>
        </p:txBody>
      </p:sp>
      <p:sp>
        <p:nvSpPr>
          <p:cNvPr id="35" name="Oval 34">
            <a:extLst>
              <a:ext uri="{FF2B5EF4-FFF2-40B4-BE49-F238E27FC236}">
                <a16:creationId xmlns:a16="http://schemas.microsoft.com/office/drawing/2014/main" id="{EA6F482D-05B5-4D04-E94A-7E44D56C4395}"/>
              </a:ext>
            </a:extLst>
          </p:cNvPr>
          <p:cNvSpPr/>
          <p:nvPr/>
        </p:nvSpPr>
        <p:spPr>
          <a:xfrm>
            <a:off x="867252" y="1816797"/>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2</a:t>
            </a:r>
          </a:p>
        </p:txBody>
      </p:sp>
      <p:sp>
        <p:nvSpPr>
          <p:cNvPr id="36" name="Oval 35">
            <a:extLst>
              <a:ext uri="{FF2B5EF4-FFF2-40B4-BE49-F238E27FC236}">
                <a16:creationId xmlns:a16="http://schemas.microsoft.com/office/drawing/2014/main" id="{6FB2643A-6156-2451-D2F5-FE0ABD8926DE}"/>
              </a:ext>
            </a:extLst>
          </p:cNvPr>
          <p:cNvSpPr/>
          <p:nvPr/>
        </p:nvSpPr>
        <p:spPr>
          <a:xfrm>
            <a:off x="867252" y="2873809"/>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3</a:t>
            </a:r>
          </a:p>
        </p:txBody>
      </p:sp>
      <p:sp>
        <p:nvSpPr>
          <p:cNvPr id="37" name="Oval 36">
            <a:extLst>
              <a:ext uri="{FF2B5EF4-FFF2-40B4-BE49-F238E27FC236}">
                <a16:creationId xmlns:a16="http://schemas.microsoft.com/office/drawing/2014/main" id="{FEECD2A9-EEEC-4775-0F58-C11E78576584}"/>
              </a:ext>
            </a:extLst>
          </p:cNvPr>
          <p:cNvSpPr/>
          <p:nvPr/>
        </p:nvSpPr>
        <p:spPr>
          <a:xfrm>
            <a:off x="832110" y="4081139"/>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4</a:t>
            </a:r>
          </a:p>
        </p:txBody>
      </p:sp>
      <p:sp>
        <p:nvSpPr>
          <p:cNvPr id="38" name="Oval 37">
            <a:extLst>
              <a:ext uri="{FF2B5EF4-FFF2-40B4-BE49-F238E27FC236}">
                <a16:creationId xmlns:a16="http://schemas.microsoft.com/office/drawing/2014/main" id="{CE419EA0-23F5-AF8D-8E93-2DBAFC6D93AB}"/>
              </a:ext>
            </a:extLst>
          </p:cNvPr>
          <p:cNvSpPr/>
          <p:nvPr/>
        </p:nvSpPr>
        <p:spPr>
          <a:xfrm>
            <a:off x="832109" y="5569513"/>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5</a:t>
            </a:r>
          </a:p>
        </p:txBody>
      </p:sp>
      <p:sp>
        <p:nvSpPr>
          <p:cNvPr id="39" name="Oval 38">
            <a:extLst>
              <a:ext uri="{FF2B5EF4-FFF2-40B4-BE49-F238E27FC236}">
                <a16:creationId xmlns:a16="http://schemas.microsoft.com/office/drawing/2014/main" id="{D7DFB3A5-E44C-FDD7-E626-AADD2B7A9A07}"/>
              </a:ext>
            </a:extLst>
          </p:cNvPr>
          <p:cNvSpPr/>
          <p:nvPr/>
        </p:nvSpPr>
        <p:spPr>
          <a:xfrm>
            <a:off x="6685419" y="797624"/>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6</a:t>
            </a:r>
          </a:p>
        </p:txBody>
      </p:sp>
      <p:sp>
        <p:nvSpPr>
          <p:cNvPr id="40" name="Oval 39">
            <a:extLst>
              <a:ext uri="{FF2B5EF4-FFF2-40B4-BE49-F238E27FC236}">
                <a16:creationId xmlns:a16="http://schemas.microsoft.com/office/drawing/2014/main" id="{5F2DD929-F9FE-3CB5-25EF-E6E78E1F9ECC}"/>
              </a:ext>
            </a:extLst>
          </p:cNvPr>
          <p:cNvSpPr/>
          <p:nvPr/>
        </p:nvSpPr>
        <p:spPr>
          <a:xfrm>
            <a:off x="6674112" y="1811841"/>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7</a:t>
            </a:r>
          </a:p>
        </p:txBody>
      </p:sp>
      <p:sp>
        <p:nvSpPr>
          <p:cNvPr id="41" name="Oval 40">
            <a:extLst>
              <a:ext uri="{FF2B5EF4-FFF2-40B4-BE49-F238E27FC236}">
                <a16:creationId xmlns:a16="http://schemas.microsoft.com/office/drawing/2014/main" id="{C5119AC5-CAE9-DFCB-CC6E-49698198E84A}"/>
              </a:ext>
            </a:extLst>
          </p:cNvPr>
          <p:cNvSpPr/>
          <p:nvPr/>
        </p:nvSpPr>
        <p:spPr>
          <a:xfrm>
            <a:off x="6830165" y="3080166"/>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8</a:t>
            </a:r>
          </a:p>
        </p:txBody>
      </p:sp>
      <p:sp>
        <p:nvSpPr>
          <p:cNvPr id="42" name="Oval 41">
            <a:extLst>
              <a:ext uri="{FF2B5EF4-FFF2-40B4-BE49-F238E27FC236}">
                <a16:creationId xmlns:a16="http://schemas.microsoft.com/office/drawing/2014/main" id="{E5E623C0-5E77-4EA2-5664-F601E872775C}"/>
              </a:ext>
            </a:extLst>
          </p:cNvPr>
          <p:cNvSpPr/>
          <p:nvPr/>
        </p:nvSpPr>
        <p:spPr>
          <a:xfrm>
            <a:off x="6847388" y="4336286"/>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9</a:t>
            </a:r>
          </a:p>
        </p:txBody>
      </p:sp>
      <p:sp>
        <p:nvSpPr>
          <p:cNvPr id="43" name="Oval 42">
            <a:extLst>
              <a:ext uri="{FF2B5EF4-FFF2-40B4-BE49-F238E27FC236}">
                <a16:creationId xmlns:a16="http://schemas.microsoft.com/office/drawing/2014/main" id="{2565FB53-053B-71A4-18B2-2FB8EF2C6ABC}"/>
              </a:ext>
            </a:extLst>
          </p:cNvPr>
          <p:cNvSpPr/>
          <p:nvPr/>
        </p:nvSpPr>
        <p:spPr>
          <a:xfrm>
            <a:off x="6772405" y="5569512"/>
            <a:ext cx="638827" cy="6050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solidFill>
                  <a:schemeClr val="bg2"/>
                </a:solidFill>
              </a:rPr>
              <a:t>10</a:t>
            </a:r>
          </a:p>
        </p:txBody>
      </p:sp>
      <p:sp>
        <p:nvSpPr>
          <p:cNvPr id="45" name="TextBox 44">
            <a:extLst>
              <a:ext uri="{FF2B5EF4-FFF2-40B4-BE49-F238E27FC236}">
                <a16:creationId xmlns:a16="http://schemas.microsoft.com/office/drawing/2014/main" id="{1D531F66-EE3B-EAB9-0D10-EB0D6F059360}"/>
              </a:ext>
            </a:extLst>
          </p:cNvPr>
          <p:cNvSpPr txBox="1"/>
          <p:nvPr/>
        </p:nvSpPr>
        <p:spPr>
          <a:xfrm>
            <a:off x="134654" y="196534"/>
            <a:ext cx="10011254" cy="400110"/>
          </a:xfrm>
          <a:prstGeom prst="rect">
            <a:avLst/>
          </a:prstGeom>
          <a:noFill/>
        </p:spPr>
        <p:txBody>
          <a:bodyPr wrap="square">
            <a:spAutoFit/>
          </a:bodyPr>
          <a:lstStyle/>
          <a:p>
            <a:r>
              <a:rPr lang="en-US" sz="2000" b="1" dirty="0">
                <a:solidFill>
                  <a:schemeClr val="bg2"/>
                </a:solidFill>
              </a:rPr>
              <a:t>Principles of Conventional Software Engineering (Davis's Principles):</a:t>
            </a:r>
            <a:endParaRPr lang="en-IN" sz="2000" b="1" dirty="0">
              <a:solidFill>
                <a:schemeClr val="bg2"/>
              </a:solidFill>
            </a:endParaRPr>
          </a:p>
        </p:txBody>
      </p:sp>
    </p:spTree>
    <p:extLst>
      <p:ext uri="{BB962C8B-B14F-4D97-AF65-F5344CB8AC3E}">
        <p14:creationId xmlns:p14="http://schemas.microsoft.com/office/powerpoint/2010/main" val="2569280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2260D2-1D80-BF96-0F39-3376AEF0B1CC}"/>
              </a:ext>
            </a:extLst>
          </p:cNvPr>
          <p:cNvSpPr txBox="1"/>
          <p:nvPr/>
        </p:nvSpPr>
        <p:spPr>
          <a:xfrm>
            <a:off x="200417" y="62630"/>
            <a:ext cx="10935222" cy="6878806"/>
          </a:xfrm>
          <a:prstGeom prst="rect">
            <a:avLst/>
          </a:prstGeom>
          <a:noFill/>
        </p:spPr>
        <p:txBody>
          <a:bodyPr wrap="square">
            <a:spAutoFit/>
          </a:bodyPr>
          <a:lstStyle/>
          <a:p>
            <a:pPr>
              <a:buNone/>
            </a:pPr>
            <a:r>
              <a:rPr lang="en-US" sz="2100" b="1" dirty="0">
                <a:solidFill>
                  <a:schemeClr val="bg2"/>
                </a:solidFill>
                <a:latin typeface="Times New Roman" panose="02020603050405020304" pitchFamily="18" charset="0"/>
                <a:cs typeface="Times New Roman" panose="02020603050405020304" pitchFamily="18" charset="0"/>
              </a:rPr>
              <a:t>5. Evaluate Design Alternatives</a:t>
            </a:r>
          </a:p>
          <a:p>
            <a:pPr>
              <a:buNone/>
            </a:pPr>
            <a:r>
              <a:rPr lang="en-US" sz="2100" dirty="0">
                <a:solidFill>
                  <a:schemeClr val="bg2"/>
                </a:solidFill>
                <a:latin typeface="Times New Roman" panose="02020603050405020304" pitchFamily="18" charset="0"/>
                <a:cs typeface="Times New Roman" panose="02020603050405020304" pitchFamily="18" charset="0"/>
              </a:rPr>
              <a:t>After requirements, compare multiple architectures, algorithms, and designs. Don’t pick the first idea blindly.</a:t>
            </a:r>
            <a:br>
              <a:rPr lang="en-US" sz="2100" dirty="0">
                <a:solidFill>
                  <a:schemeClr val="bg2"/>
                </a:solidFill>
                <a:latin typeface="Times New Roman" panose="02020603050405020304" pitchFamily="18" charset="0"/>
                <a:cs typeface="Times New Roman" panose="02020603050405020304" pitchFamily="18" charset="0"/>
              </a:rPr>
            </a:br>
            <a:endParaRPr lang="en-US" sz="2100" dirty="0">
              <a:solidFill>
                <a:schemeClr val="bg2"/>
              </a:solidFill>
              <a:latin typeface="Times New Roman" panose="02020603050405020304" pitchFamily="18" charset="0"/>
              <a:cs typeface="Times New Roman" panose="02020603050405020304" pitchFamily="18" charset="0"/>
            </a:endParaRPr>
          </a:p>
          <a:p>
            <a:pPr>
              <a:buNone/>
            </a:pPr>
            <a:r>
              <a:rPr lang="en-US" sz="2100" b="1" dirty="0">
                <a:solidFill>
                  <a:schemeClr val="bg2"/>
                </a:solidFill>
                <a:latin typeface="Times New Roman" panose="02020603050405020304" pitchFamily="18" charset="0"/>
                <a:cs typeface="Times New Roman" panose="02020603050405020304" pitchFamily="18" charset="0"/>
              </a:rPr>
              <a:t>6. Use an Appropriate Process Model</a:t>
            </a:r>
          </a:p>
          <a:p>
            <a:pPr>
              <a:buNone/>
            </a:pPr>
            <a:r>
              <a:rPr lang="en-US" sz="2100" dirty="0">
                <a:solidFill>
                  <a:schemeClr val="bg2"/>
                </a:solidFill>
                <a:latin typeface="Times New Roman" panose="02020603050405020304" pitchFamily="18" charset="0"/>
                <a:cs typeface="Times New Roman" panose="02020603050405020304" pitchFamily="18" charset="0"/>
              </a:rPr>
              <a:t>Choose the process based on project type, risks, culture, technology, and team. (No single model fits all projects.)</a:t>
            </a:r>
          </a:p>
          <a:p>
            <a:pPr>
              <a:buNone/>
            </a:pPr>
            <a:endParaRPr lang="en-US" sz="2100" dirty="0">
              <a:solidFill>
                <a:schemeClr val="bg2"/>
              </a:solidFill>
              <a:latin typeface="Times New Roman" panose="02020603050405020304" pitchFamily="18" charset="0"/>
              <a:cs typeface="Times New Roman" panose="02020603050405020304" pitchFamily="18" charset="0"/>
            </a:endParaRPr>
          </a:p>
          <a:p>
            <a:pPr>
              <a:buNone/>
            </a:pPr>
            <a:r>
              <a:rPr lang="en-US" sz="2100" b="1" dirty="0">
                <a:solidFill>
                  <a:schemeClr val="bg2"/>
                </a:solidFill>
                <a:latin typeface="Times New Roman" panose="02020603050405020304" pitchFamily="18" charset="0"/>
                <a:cs typeface="Times New Roman" panose="02020603050405020304" pitchFamily="18" charset="0"/>
              </a:rPr>
              <a:t>7. Minimize Intellectual Distance</a:t>
            </a:r>
          </a:p>
          <a:p>
            <a:pPr>
              <a:buNone/>
            </a:pPr>
            <a:r>
              <a:rPr lang="en-US" sz="2100" dirty="0">
                <a:solidFill>
                  <a:schemeClr val="bg2"/>
                </a:solidFill>
                <a:latin typeface="Times New Roman" panose="02020603050405020304" pitchFamily="18" charset="0"/>
                <a:cs typeface="Times New Roman" panose="02020603050405020304" pitchFamily="18" charset="0"/>
              </a:rPr>
              <a:t>Software design should match the real-world structure as much as possible.</a:t>
            </a:r>
            <a:br>
              <a:rPr lang="en-US" sz="2100" dirty="0">
                <a:solidFill>
                  <a:schemeClr val="bg2"/>
                </a:solidFill>
                <a:latin typeface="Times New Roman" panose="02020603050405020304" pitchFamily="18" charset="0"/>
                <a:cs typeface="Times New Roman" panose="02020603050405020304" pitchFamily="18" charset="0"/>
              </a:rPr>
            </a:br>
            <a:r>
              <a:rPr lang="en-US" sz="2100" dirty="0">
                <a:solidFill>
                  <a:schemeClr val="bg2"/>
                </a:solidFill>
                <a:latin typeface="Times New Roman" panose="02020603050405020304" pitchFamily="18" charset="0"/>
                <a:cs typeface="Times New Roman" panose="02020603050405020304" pitchFamily="18" charset="0"/>
              </a:rPr>
              <a:t>Makes systems easier to understand and maintain.</a:t>
            </a:r>
          </a:p>
          <a:p>
            <a:pPr>
              <a:buNone/>
            </a:pPr>
            <a:endParaRPr lang="en-US" sz="2100" dirty="0">
              <a:solidFill>
                <a:schemeClr val="bg2"/>
              </a:solidFill>
              <a:latin typeface="Times New Roman" panose="02020603050405020304" pitchFamily="18" charset="0"/>
              <a:cs typeface="Times New Roman" panose="02020603050405020304" pitchFamily="18" charset="0"/>
            </a:endParaRPr>
          </a:p>
          <a:p>
            <a:pPr>
              <a:buNone/>
            </a:pPr>
            <a:r>
              <a:rPr lang="en-US" sz="2100" b="1" dirty="0">
                <a:solidFill>
                  <a:schemeClr val="bg2"/>
                </a:solidFill>
                <a:latin typeface="Times New Roman" panose="02020603050405020304" pitchFamily="18" charset="0"/>
                <a:cs typeface="Times New Roman" panose="02020603050405020304" pitchFamily="18" charset="0"/>
              </a:rPr>
              <a:t>8. Put Techniques Before Tools</a:t>
            </a:r>
          </a:p>
          <a:p>
            <a:pPr>
              <a:buNone/>
            </a:pPr>
            <a:r>
              <a:rPr lang="en-US" sz="2100" dirty="0">
                <a:solidFill>
                  <a:schemeClr val="bg2"/>
                </a:solidFill>
                <a:latin typeface="Times New Roman" panose="02020603050405020304" pitchFamily="18" charset="0"/>
                <a:cs typeface="Times New Roman" panose="02020603050405020304" pitchFamily="18" charset="0"/>
              </a:rPr>
              <a:t>Tools cannot replace skill.</a:t>
            </a:r>
            <a:br>
              <a:rPr lang="en-US" sz="2100" dirty="0">
                <a:solidFill>
                  <a:schemeClr val="bg2"/>
                </a:solidFill>
                <a:latin typeface="Times New Roman" panose="02020603050405020304" pitchFamily="18" charset="0"/>
                <a:cs typeface="Times New Roman" panose="02020603050405020304" pitchFamily="18" charset="0"/>
              </a:rPr>
            </a:br>
            <a:r>
              <a:rPr lang="en-US" sz="2100" dirty="0">
                <a:solidFill>
                  <a:schemeClr val="bg2"/>
                </a:solidFill>
                <a:latin typeface="Times New Roman" panose="02020603050405020304" pitchFamily="18" charset="0"/>
                <a:cs typeface="Times New Roman" panose="02020603050405020304" pitchFamily="18" charset="0"/>
              </a:rPr>
              <a:t>Strong techniques + good tools = best results.</a:t>
            </a:r>
            <a:br>
              <a:rPr lang="en-US" sz="2100" dirty="0">
                <a:solidFill>
                  <a:schemeClr val="bg2"/>
                </a:solidFill>
                <a:latin typeface="Times New Roman" panose="02020603050405020304" pitchFamily="18" charset="0"/>
                <a:cs typeface="Times New Roman" panose="02020603050405020304" pitchFamily="18" charset="0"/>
              </a:rPr>
            </a:br>
            <a:endParaRPr lang="en-US" sz="2100" dirty="0">
              <a:solidFill>
                <a:schemeClr val="bg2"/>
              </a:solidFill>
              <a:latin typeface="Times New Roman" panose="02020603050405020304" pitchFamily="18" charset="0"/>
              <a:cs typeface="Times New Roman" panose="02020603050405020304" pitchFamily="18" charset="0"/>
            </a:endParaRPr>
          </a:p>
          <a:p>
            <a:pPr>
              <a:buNone/>
            </a:pPr>
            <a:r>
              <a:rPr lang="en-US" sz="2100" b="1" dirty="0">
                <a:solidFill>
                  <a:schemeClr val="bg2"/>
                </a:solidFill>
                <a:latin typeface="Times New Roman" panose="02020603050405020304" pitchFamily="18" charset="0"/>
                <a:cs typeface="Times New Roman" panose="02020603050405020304" pitchFamily="18" charset="0"/>
              </a:rPr>
              <a:t>9. Inspect Code</a:t>
            </a:r>
          </a:p>
          <a:p>
            <a:pPr>
              <a:buNone/>
            </a:pPr>
            <a:r>
              <a:rPr lang="en-US" sz="2100" dirty="0">
                <a:solidFill>
                  <a:schemeClr val="bg2"/>
                </a:solidFill>
                <a:latin typeface="Times New Roman" panose="02020603050405020304" pitchFamily="18" charset="0"/>
                <a:cs typeface="Times New Roman" panose="02020603050405020304" pitchFamily="18" charset="0"/>
              </a:rPr>
              <a:t>Code inspections find more errors than testing alone. Helps maintain quality throughout the project.</a:t>
            </a:r>
            <a:br>
              <a:rPr lang="en-US" sz="2100" dirty="0">
                <a:solidFill>
                  <a:schemeClr val="bg2"/>
                </a:solidFill>
                <a:latin typeface="Times New Roman" panose="02020603050405020304" pitchFamily="18" charset="0"/>
                <a:cs typeface="Times New Roman" panose="02020603050405020304" pitchFamily="18" charset="0"/>
              </a:rPr>
            </a:br>
            <a:endParaRPr lang="en-US" sz="2100" dirty="0">
              <a:solidFill>
                <a:schemeClr val="bg2"/>
              </a:solidFill>
              <a:latin typeface="Times New Roman" panose="02020603050405020304" pitchFamily="18" charset="0"/>
              <a:cs typeface="Times New Roman" panose="02020603050405020304" pitchFamily="18" charset="0"/>
            </a:endParaRPr>
          </a:p>
          <a:p>
            <a:pPr>
              <a:buNone/>
            </a:pPr>
            <a:r>
              <a:rPr lang="en-US" sz="2100" b="1" dirty="0">
                <a:solidFill>
                  <a:schemeClr val="bg2"/>
                </a:solidFill>
                <a:latin typeface="Times New Roman" panose="02020603050405020304" pitchFamily="18" charset="0"/>
                <a:cs typeface="Times New Roman" panose="02020603050405020304" pitchFamily="18" charset="0"/>
              </a:rPr>
              <a:t>10. Get it Right Before Making it Faster</a:t>
            </a:r>
          </a:p>
          <a:p>
            <a:pPr>
              <a:buNone/>
            </a:pPr>
            <a:r>
              <a:rPr lang="en-US" sz="2100" dirty="0">
                <a:solidFill>
                  <a:schemeClr val="bg2"/>
                </a:solidFill>
                <a:latin typeface="Times New Roman" panose="02020603050405020304" pitchFamily="18" charset="0"/>
                <a:cs typeface="Times New Roman" panose="02020603050405020304" pitchFamily="18" charset="0"/>
              </a:rPr>
              <a:t>First build correct software, then optimize it if required. Avoid premature optimization.</a:t>
            </a:r>
          </a:p>
        </p:txBody>
      </p:sp>
    </p:spTree>
    <p:extLst>
      <p:ext uri="{BB962C8B-B14F-4D97-AF65-F5344CB8AC3E}">
        <p14:creationId xmlns:p14="http://schemas.microsoft.com/office/powerpoint/2010/main" val="542330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176C8-34DE-9C63-6E1B-C879E77578EC}"/>
              </a:ext>
            </a:extLst>
          </p:cNvPr>
          <p:cNvSpPr txBox="1"/>
          <p:nvPr/>
        </p:nvSpPr>
        <p:spPr>
          <a:xfrm>
            <a:off x="272441" y="90193"/>
            <a:ext cx="10975932" cy="1077218"/>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FF0000"/>
                </a:solidFill>
                <a:latin typeface="Times New Roman" panose="02020603050405020304" pitchFamily="18" charset="0"/>
                <a:cs typeface="Times New Roman" panose="02020603050405020304" pitchFamily="18" charset="0"/>
              </a:rPr>
              <a:t>Principles of Modern Tare Management:</a:t>
            </a:r>
          </a:p>
          <a:p>
            <a:r>
              <a:rPr lang="en-US" sz="2000" dirty="0">
                <a:solidFill>
                  <a:schemeClr val="bg2"/>
                </a:solidFill>
                <a:latin typeface="Times New Roman" panose="02020603050405020304" pitchFamily="18" charset="0"/>
                <a:cs typeface="Times New Roman" panose="02020603050405020304" pitchFamily="18" charset="0"/>
              </a:rPr>
              <a:t>There are basically 10 principles for modern tare management:</a:t>
            </a:r>
          </a:p>
          <a:p>
            <a:endParaRPr lang="en-US" sz="2000" dirty="0">
              <a:solidFill>
                <a:schemeClr val="bg2"/>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A0897BE-B8E8-166A-DABC-8E3D7F4864AB}"/>
              </a:ext>
            </a:extLst>
          </p:cNvPr>
          <p:cNvSpPr txBox="1"/>
          <p:nvPr/>
        </p:nvSpPr>
        <p:spPr>
          <a:xfrm>
            <a:off x="272441" y="886154"/>
            <a:ext cx="6930025" cy="6217087"/>
          </a:xfrm>
          <a:prstGeom prst="rect">
            <a:avLst/>
          </a:prstGeom>
          <a:noFill/>
        </p:spPr>
        <p:txBody>
          <a:bodyPr wrap="square">
            <a:spAutoFit/>
          </a:bodyPr>
          <a:lstStyle/>
          <a:p>
            <a:pPr algn="just"/>
            <a:r>
              <a:rPr lang="en-US" sz="2000" b="1" dirty="0">
                <a:solidFill>
                  <a:schemeClr val="bg2"/>
                </a:solidFill>
                <a:latin typeface="Times New Roman" panose="02020603050405020304" pitchFamily="18" charset="0"/>
                <a:cs typeface="Times New Roman" panose="02020603050405020304" pitchFamily="18" charset="0"/>
              </a:rPr>
              <a:t>1. Architecture-first approach:</a:t>
            </a:r>
          </a:p>
          <a:p>
            <a:pPr algn="just"/>
            <a:r>
              <a:rPr lang="en-US" sz="2000" dirty="0">
                <a:solidFill>
                  <a:schemeClr val="bg2"/>
                </a:solidFill>
                <a:latin typeface="Times New Roman" panose="02020603050405020304" pitchFamily="18" charset="0"/>
                <a:cs typeface="Times New Roman" panose="02020603050405020304" pitchFamily="18" charset="0"/>
              </a:rPr>
              <a:t>Start the project focusing on architecture first and balance requirements, architecture, design, and planning before full development.</a:t>
            </a:r>
          </a:p>
          <a:p>
            <a:pPr algn="just"/>
            <a:r>
              <a:rPr lang="en-US" sz="2000" b="1" dirty="0">
                <a:solidFill>
                  <a:schemeClr val="bg2"/>
                </a:solidFill>
                <a:latin typeface="Times New Roman" panose="02020603050405020304" pitchFamily="18" charset="0"/>
                <a:cs typeface="Times New Roman" panose="02020603050405020304" pitchFamily="18" charset="0"/>
              </a:rPr>
              <a:t>2. Use an iterative life-cycle:</a:t>
            </a:r>
          </a:p>
          <a:p>
            <a:pPr algn="just"/>
            <a:r>
              <a:rPr lang="en-US" sz="2000" dirty="0">
                <a:solidFill>
                  <a:schemeClr val="bg2"/>
                </a:solidFill>
                <a:latin typeface="Times New Roman" panose="02020603050405020304" pitchFamily="18" charset="0"/>
                <a:cs typeface="Times New Roman" panose="02020603050405020304" pitchFamily="18" charset="0"/>
              </a:rPr>
              <a:t>Follow an iterative process that identifies and reduces risks early instead of doing everything in one sequence.</a:t>
            </a:r>
          </a:p>
          <a:p>
            <a:pPr algn="just"/>
            <a:r>
              <a:rPr lang="en-US" sz="2000" b="1" dirty="0">
                <a:solidFill>
                  <a:schemeClr val="bg2"/>
                </a:solidFill>
                <a:latin typeface="Times New Roman" panose="02020603050405020304" pitchFamily="18" charset="0"/>
                <a:cs typeface="Times New Roman" panose="02020603050405020304" pitchFamily="18" charset="0"/>
              </a:rPr>
              <a:t>3. Component-based development:</a:t>
            </a:r>
          </a:p>
          <a:p>
            <a:pPr algn="just"/>
            <a:r>
              <a:rPr lang="en-US" sz="2000" dirty="0">
                <a:solidFill>
                  <a:schemeClr val="bg2"/>
                </a:solidFill>
                <a:latin typeface="Times New Roman" panose="02020603050405020304" pitchFamily="18" charset="0"/>
                <a:cs typeface="Times New Roman" panose="02020603050405020304" pitchFamily="18" charset="0"/>
              </a:rPr>
              <a:t>Shift from line-of-code thinking to component-based design to reduce custom coding and improve reuse.</a:t>
            </a:r>
          </a:p>
          <a:p>
            <a:pPr algn="just"/>
            <a:r>
              <a:rPr lang="en-US" sz="2000" b="1" dirty="0">
                <a:solidFill>
                  <a:schemeClr val="bg2"/>
                </a:solidFill>
                <a:latin typeface="Times New Roman" panose="02020603050405020304" pitchFamily="18" charset="0"/>
                <a:cs typeface="Times New Roman" panose="02020603050405020304" pitchFamily="18" charset="0"/>
              </a:rPr>
              <a:t>4. Strong change-management system:</a:t>
            </a:r>
          </a:p>
          <a:p>
            <a:pPr algn="just"/>
            <a:r>
              <a:rPr lang="en-US" sz="2000" dirty="0">
                <a:solidFill>
                  <a:schemeClr val="bg2"/>
                </a:solidFill>
                <a:latin typeface="Times New Roman" panose="02020603050405020304" pitchFamily="18" charset="0"/>
                <a:cs typeface="Times New Roman" panose="02020603050405020304" pitchFamily="18" charset="0"/>
              </a:rPr>
              <a:t>Manage changes properly with controlled baselines, especially during iterative and parallel development.</a:t>
            </a:r>
          </a:p>
          <a:p>
            <a:pPr algn="just"/>
            <a:r>
              <a:rPr lang="en-US" sz="2000" b="1" dirty="0">
                <a:solidFill>
                  <a:schemeClr val="bg2"/>
                </a:solidFill>
                <a:latin typeface="Times New Roman" panose="02020603050405020304" pitchFamily="18" charset="0"/>
                <a:cs typeface="Times New Roman" panose="02020603050405020304" pitchFamily="18" charset="0"/>
              </a:rPr>
              <a:t>5. Support change using round-trip engineering tools:</a:t>
            </a:r>
          </a:p>
          <a:p>
            <a:pPr algn="just"/>
            <a:r>
              <a:rPr lang="en-US" sz="2000" dirty="0">
                <a:solidFill>
                  <a:schemeClr val="bg2"/>
                </a:solidFill>
                <a:latin typeface="Times New Roman" panose="02020603050405020304" pitchFamily="18" charset="0"/>
                <a:cs typeface="Times New Roman" panose="02020603050405020304" pitchFamily="18" charset="0"/>
              </a:rPr>
              <a:t>Use tools that keep requirements, design, code, and tests synchronized automatically.</a:t>
            </a:r>
          </a:p>
          <a:p>
            <a:pPr algn="just"/>
            <a:r>
              <a:rPr lang="en-US" sz="2000" b="1" dirty="0">
                <a:solidFill>
                  <a:schemeClr val="bg2"/>
                </a:solidFill>
                <a:latin typeface="Times New Roman" panose="02020603050405020304" pitchFamily="18" charset="0"/>
                <a:cs typeface="Times New Roman" panose="02020603050405020304" pitchFamily="18" charset="0"/>
              </a:rPr>
              <a:t>6. Model-based notation:</a:t>
            </a:r>
          </a:p>
          <a:p>
            <a:pPr algn="just"/>
            <a:r>
              <a:rPr lang="en-US" sz="2000" dirty="0">
                <a:solidFill>
                  <a:schemeClr val="bg2"/>
                </a:solidFill>
                <a:latin typeface="Times New Roman" panose="02020603050405020304" pitchFamily="18" charset="0"/>
                <a:cs typeface="Times New Roman" panose="02020603050405020304" pitchFamily="18" charset="0"/>
              </a:rPr>
              <a:t>Use standard models (like UML) to represent design clearly with graphical and textual diagrams.</a:t>
            </a:r>
          </a:p>
          <a:p>
            <a:pPr algn="just"/>
            <a:endParaRPr lang="en-US" sz="2000" dirty="0">
              <a:solidFill>
                <a:schemeClr val="bg2"/>
              </a:solidFill>
              <a:latin typeface="Times New Roman" panose="02020603050405020304" pitchFamily="18" charset="0"/>
              <a:cs typeface="Times New Roman" panose="02020603050405020304" pitchFamily="18" charset="0"/>
            </a:endParaRPr>
          </a:p>
        </p:txBody>
      </p:sp>
      <p:pic>
        <p:nvPicPr>
          <p:cNvPr id="8" name="Picture 7" descr="A diagram of a process">
            <a:extLst>
              <a:ext uri="{FF2B5EF4-FFF2-40B4-BE49-F238E27FC236}">
                <a16:creationId xmlns:a16="http://schemas.microsoft.com/office/drawing/2014/main" id="{88AC80ED-7788-781B-69CE-6FCC9FFDE14A}"/>
              </a:ext>
            </a:extLst>
          </p:cNvPr>
          <p:cNvPicPr>
            <a:picLocks noChangeAspect="1"/>
          </p:cNvPicPr>
          <p:nvPr/>
        </p:nvPicPr>
        <p:blipFill>
          <a:blip r:embed="rId2"/>
          <a:stretch>
            <a:fillRect/>
          </a:stretch>
        </p:blipFill>
        <p:spPr>
          <a:xfrm>
            <a:off x="7202466" y="281836"/>
            <a:ext cx="4885150" cy="6485971"/>
          </a:xfrm>
          <a:prstGeom prst="rect">
            <a:avLst/>
          </a:prstGeom>
        </p:spPr>
      </p:pic>
    </p:spTree>
    <p:extLst>
      <p:ext uri="{BB962C8B-B14F-4D97-AF65-F5344CB8AC3E}">
        <p14:creationId xmlns:p14="http://schemas.microsoft.com/office/powerpoint/2010/main" val="689599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3F46F6-DC7A-DA5A-5CBC-86CE409EC18F}"/>
              </a:ext>
            </a:extLst>
          </p:cNvPr>
          <p:cNvSpPr txBox="1"/>
          <p:nvPr/>
        </p:nvSpPr>
        <p:spPr>
          <a:xfrm>
            <a:off x="585591" y="659258"/>
            <a:ext cx="9836064" cy="5262979"/>
          </a:xfrm>
          <a:prstGeom prst="rect">
            <a:avLst/>
          </a:prstGeom>
          <a:noFill/>
        </p:spPr>
        <p:txBody>
          <a:bodyPr wrap="square">
            <a:spAutoFit/>
          </a:bodyPr>
          <a:lstStyle/>
          <a:p>
            <a:pPr>
              <a:buNone/>
            </a:pPr>
            <a:r>
              <a:rPr lang="en-US" sz="2400" b="1" dirty="0">
                <a:solidFill>
                  <a:schemeClr val="bg2"/>
                </a:solidFill>
                <a:latin typeface="Times New Roman" panose="02020603050405020304" pitchFamily="18" charset="0"/>
                <a:cs typeface="Times New Roman" panose="02020603050405020304" pitchFamily="18" charset="0"/>
              </a:rPr>
              <a:t>7. Objective quality control:</a:t>
            </a:r>
          </a:p>
          <a:p>
            <a:pPr>
              <a:buNone/>
            </a:pPr>
            <a:r>
              <a:rPr lang="en-US" sz="2400" dirty="0">
                <a:solidFill>
                  <a:schemeClr val="bg2"/>
                </a:solidFill>
                <a:latin typeface="Times New Roman" panose="02020603050405020304" pitchFamily="18" charset="0"/>
                <a:cs typeface="Times New Roman" panose="02020603050405020304" pitchFamily="18" charset="0"/>
              </a:rPr>
              <a:t>Measure progress and quality continuously throughout the life cycle.</a:t>
            </a:r>
          </a:p>
          <a:p>
            <a:pPr>
              <a:buNone/>
            </a:pPr>
            <a:endParaRPr lang="en-US" sz="2400" dirty="0">
              <a:solidFill>
                <a:schemeClr val="bg2"/>
              </a:solidFill>
              <a:latin typeface="Times New Roman" panose="02020603050405020304" pitchFamily="18" charset="0"/>
              <a:cs typeface="Times New Roman" panose="02020603050405020304" pitchFamily="18" charset="0"/>
            </a:endParaRPr>
          </a:p>
          <a:p>
            <a:pPr>
              <a:buNone/>
            </a:pPr>
            <a:r>
              <a:rPr lang="en-US" sz="2400" b="1" dirty="0">
                <a:solidFill>
                  <a:schemeClr val="bg2"/>
                </a:solidFill>
                <a:latin typeface="Times New Roman" panose="02020603050405020304" pitchFamily="18" charset="0"/>
                <a:cs typeface="Times New Roman" panose="02020603050405020304" pitchFamily="18" charset="0"/>
              </a:rPr>
              <a:t>8. Demonstration-based assessment:</a:t>
            </a:r>
          </a:p>
          <a:p>
            <a:pPr>
              <a:buNone/>
            </a:pPr>
            <a:r>
              <a:rPr lang="en-US" sz="2400" dirty="0">
                <a:solidFill>
                  <a:schemeClr val="bg2"/>
                </a:solidFill>
                <a:latin typeface="Times New Roman" panose="02020603050405020304" pitchFamily="18" charset="0"/>
                <a:cs typeface="Times New Roman" panose="02020603050405020304" pitchFamily="18" charset="0"/>
              </a:rPr>
              <a:t>Use prototypes, architecture demos, or beta versions to check progress and expose design issues early.</a:t>
            </a:r>
          </a:p>
          <a:p>
            <a:pPr>
              <a:buNone/>
            </a:pPr>
            <a:endParaRPr lang="en-US" sz="2400" dirty="0">
              <a:solidFill>
                <a:schemeClr val="bg2"/>
              </a:solidFill>
              <a:latin typeface="Times New Roman" panose="02020603050405020304" pitchFamily="18" charset="0"/>
              <a:cs typeface="Times New Roman" panose="02020603050405020304" pitchFamily="18" charset="0"/>
            </a:endParaRPr>
          </a:p>
          <a:p>
            <a:pPr>
              <a:buNone/>
            </a:pPr>
            <a:r>
              <a:rPr lang="en-US" sz="2400" b="1" dirty="0">
                <a:solidFill>
                  <a:schemeClr val="bg2"/>
                </a:solidFill>
                <a:latin typeface="Times New Roman" panose="02020603050405020304" pitchFamily="18" charset="0"/>
                <a:cs typeface="Times New Roman" panose="02020603050405020304" pitchFamily="18" charset="0"/>
              </a:rPr>
              <a:t>9. Plan intermediate releases:</a:t>
            </a:r>
          </a:p>
          <a:p>
            <a:pPr>
              <a:buNone/>
            </a:pPr>
            <a:r>
              <a:rPr lang="en-US" sz="2400" dirty="0">
                <a:solidFill>
                  <a:schemeClr val="bg2"/>
                </a:solidFill>
                <a:latin typeface="Times New Roman" panose="02020603050405020304" pitchFamily="18" charset="0"/>
                <a:cs typeface="Times New Roman" panose="02020603050405020304" pitchFamily="18" charset="0"/>
              </a:rPr>
              <a:t>Deliver software in small increments with increasing detail to show real progress and validate use cases.</a:t>
            </a:r>
          </a:p>
          <a:p>
            <a:pPr>
              <a:buNone/>
            </a:pPr>
            <a:endParaRPr lang="en-US" sz="2400" dirty="0">
              <a:solidFill>
                <a:schemeClr val="bg2"/>
              </a:solidFill>
              <a:latin typeface="Times New Roman" panose="02020603050405020304" pitchFamily="18" charset="0"/>
              <a:cs typeface="Times New Roman" panose="02020603050405020304" pitchFamily="18" charset="0"/>
            </a:endParaRPr>
          </a:p>
          <a:p>
            <a:pPr>
              <a:buNone/>
            </a:pPr>
            <a:r>
              <a:rPr lang="en-US" sz="2400" b="1" dirty="0">
                <a:solidFill>
                  <a:schemeClr val="bg2"/>
                </a:solidFill>
                <a:latin typeface="Times New Roman" panose="02020603050405020304" pitchFamily="18" charset="0"/>
                <a:cs typeface="Times New Roman" panose="02020603050405020304" pitchFamily="18" charset="0"/>
              </a:rPr>
              <a:t>10. Configurable and scalable process:</a:t>
            </a:r>
          </a:p>
          <a:p>
            <a:pPr>
              <a:buNone/>
            </a:pPr>
            <a:r>
              <a:rPr lang="en-US" sz="2400" dirty="0">
                <a:solidFill>
                  <a:schemeClr val="bg2"/>
                </a:solidFill>
                <a:latin typeface="Times New Roman" panose="02020603050405020304" pitchFamily="18" charset="0"/>
                <a:cs typeface="Times New Roman" panose="02020603050405020304" pitchFamily="18" charset="0"/>
              </a:rPr>
              <a:t>Use a flexible process framework that can be adapted to different project types and sizes.</a:t>
            </a:r>
          </a:p>
        </p:txBody>
      </p:sp>
    </p:spTree>
    <p:extLst>
      <p:ext uri="{BB962C8B-B14F-4D97-AF65-F5344CB8AC3E}">
        <p14:creationId xmlns:p14="http://schemas.microsoft.com/office/powerpoint/2010/main" val="296662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0DB1E39-9430-4CA4-8567-14BEE1F52B41}"/>
              </a:ext>
            </a:extLst>
          </p:cNvPr>
          <p:cNvSpPr txBox="1"/>
          <p:nvPr/>
        </p:nvSpPr>
        <p:spPr>
          <a:xfrm>
            <a:off x="134654" y="241219"/>
            <a:ext cx="7982211" cy="523220"/>
          </a:xfrm>
          <a:prstGeom prst="rect">
            <a:avLst/>
          </a:prstGeom>
          <a:noFill/>
        </p:spPr>
        <p:txBody>
          <a:bodyPr wrap="square">
            <a:spAutoFit/>
          </a:bodyPr>
          <a:lstStyle/>
          <a:p>
            <a:pPr marL="457200" indent="-457200">
              <a:buFont typeface="Wingdings" panose="05000000000000000000" pitchFamily="2" charset="2"/>
              <a:buChar char="v"/>
            </a:pPr>
            <a:r>
              <a:rPr lang="en-US" sz="2800" b="1" kern="0" dirty="0">
                <a:solidFill>
                  <a:srgbClr val="000000"/>
                </a:solidFill>
                <a:latin typeface="Times New Roman" panose="02020603050405020304" pitchFamily="18" charset="0"/>
                <a:cs typeface="Times New Roman" panose="02020603050405020304" pitchFamily="18" charset="0"/>
                <a:sym typeface="Arial"/>
              </a:rPr>
              <a:t>Transitioning to an Iterative Process:</a:t>
            </a:r>
            <a:endParaRPr lang="en-IN" sz="2800" b="1" dirty="0"/>
          </a:p>
        </p:txBody>
      </p:sp>
      <p:sp>
        <p:nvSpPr>
          <p:cNvPr id="9" name="TextBox 8">
            <a:extLst>
              <a:ext uri="{FF2B5EF4-FFF2-40B4-BE49-F238E27FC236}">
                <a16:creationId xmlns:a16="http://schemas.microsoft.com/office/drawing/2014/main" id="{3CC2E78F-C689-B623-D5B1-05A90F82C384}"/>
              </a:ext>
            </a:extLst>
          </p:cNvPr>
          <p:cNvSpPr txBox="1"/>
          <p:nvPr/>
        </p:nvSpPr>
        <p:spPr>
          <a:xfrm>
            <a:off x="259914" y="864667"/>
            <a:ext cx="10988459" cy="1569660"/>
          </a:xfrm>
          <a:prstGeom prst="rect">
            <a:avLst/>
          </a:prstGeom>
          <a:noFill/>
        </p:spPr>
        <p:txBody>
          <a:bodyPr wrap="square">
            <a:spAutoFit/>
          </a:bodyPr>
          <a:lstStyle/>
          <a:p>
            <a:r>
              <a:rPr lang="en-US" sz="2400" dirty="0">
                <a:solidFill>
                  <a:schemeClr val="bg2"/>
                </a:solidFill>
                <a:latin typeface="Times New Roman" panose="02020603050405020304" pitchFamily="18" charset="0"/>
                <a:cs typeface="Times New Roman" panose="02020603050405020304" pitchFamily="18" charset="0"/>
              </a:rPr>
              <a:t>Transitioning to an Iterative Process in Software Project Management (SPM) involves shifting from rigid, linear models like Waterfall to flexible, adaptive development cycles that emphasize continuous improvement and stakeholder feedback.</a:t>
            </a:r>
          </a:p>
          <a:p>
            <a:r>
              <a:rPr lang="en-US" sz="2400" b="1" kern="0" dirty="0">
                <a:solidFill>
                  <a:srgbClr val="000000"/>
                </a:solidFill>
                <a:latin typeface="Times New Roman" panose="02020603050405020304" pitchFamily="18" charset="0"/>
                <a:cs typeface="Times New Roman" panose="02020603050405020304" pitchFamily="18" charset="0"/>
                <a:sym typeface="Arial"/>
              </a:rPr>
              <a:t>T</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op principles of a modern process:</a:t>
            </a:r>
            <a:endParaRPr lang="en-IN" sz="4000" b="1" dirty="0">
              <a:solidFill>
                <a:schemeClr val="bg2"/>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0647FC6-6F89-EAFC-9B7D-D587B1FD6AC7}"/>
              </a:ext>
            </a:extLst>
          </p:cNvPr>
          <p:cNvSpPr txBox="1"/>
          <p:nvPr/>
        </p:nvSpPr>
        <p:spPr>
          <a:xfrm>
            <a:off x="259914" y="2434327"/>
            <a:ext cx="10988459" cy="4462760"/>
          </a:xfrm>
          <a:prstGeom prst="rect">
            <a:avLst/>
          </a:prstGeom>
          <a:noFill/>
        </p:spPr>
        <p:txBody>
          <a:bodyPr wrap="square">
            <a:spAutoFit/>
          </a:bodyPr>
          <a:lstStyle/>
          <a:p>
            <a:pPr>
              <a:buNone/>
            </a:pPr>
            <a:r>
              <a:rPr lang="en-US" sz="2100" b="1" dirty="0">
                <a:solidFill>
                  <a:schemeClr val="accent5">
                    <a:lumMod val="75000"/>
                  </a:schemeClr>
                </a:solidFill>
                <a:latin typeface="Times New Roman" panose="02020603050405020304" pitchFamily="18" charset="0"/>
                <a:cs typeface="Times New Roman" panose="02020603050405020304" pitchFamily="18" charset="0"/>
              </a:rPr>
              <a:t>1. Modern development moved away from Waterfall:</a:t>
            </a:r>
          </a:p>
          <a:p>
            <a:pPr>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Waterfall is sequential and slow.</a:t>
            </a:r>
          </a:p>
          <a:p>
            <a:pPr>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Modern development builds an </a:t>
            </a:r>
            <a:r>
              <a:rPr lang="en-US" sz="2100" b="1" dirty="0">
                <a:solidFill>
                  <a:schemeClr val="bg2"/>
                </a:solidFill>
                <a:latin typeface="Times New Roman" panose="02020603050405020304" pitchFamily="18" charset="0"/>
                <a:cs typeface="Times New Roman" panose="02020603050405020304" pitchFamily="18" charset="0"/>
              </a:rPr>
              <a:t>early version quickly</a:t>
            </a:r>
            <a:r>
              <a:rPr lang="en-US" sz="2100" dirty="0">
                <a:solidFill>
                  <a:schemeClr val="bg2"/>
                </a:solidFill>
                <a:latin typeface="Times New Roman" panose="02020603050405020304" pitchFamily="18" charset="0"/>
                <a:cs typeface="Times New Roman" panose="02020603050405020304" pitchFamily="18" charset="0"/>
              </a:rPr>
              <a:t>, focusing on </a:t>
            </a:r>
            <a:r>
              <a:rPr lang="en-US" sz="2100" b="1" dirty="0">
                <a:solidFill>
                  <a:schemeClr val="bg2"/>
                </a:solidFill>
                <a:latin typeface="Times New Roman" panose="02020603050405020304" pitchFamily="18" charset="0"/>
                <a:cs typeface="Times New Roman" panose="02020603050405020304" pitchFamily="18" charset="0"/>
              </a:rPr>
              <a:t>high-risk areas</a:t>
            </a:r>
            <a:r>
              <a:rPr lang="en-US" sz="2100" dirty="0">
                <a:solidFill>
                  <a:schemeClr val="bg2"/>
                </a:solidFill>
                <a:latin typeface="Times New Roman" panose="02020603050405020304" pitchFamily="18" charset="0"/>
                <a:cs typeface="Times New Roman" panose="02020603050405020304" pitchFamily="18" charset="0"/>
              </a:rPr>
              <a:t>, </a:t>
            </a:r>
            <a:r>
              <a:rPr lang="en-US" sz="2100" b="1" dirty="0">
                <a:solidFill>
                  <a:schemeClr val="bg2"/>
                </a:solidFill>
                <a:latin typeface="Times New Roman" panose="02020603050405020304" pitchFamily="18" charset="0"/>
                <a:cs typeface="Times New Roman" panose="02020603050405020304" pitchFamily="18" charset="0"/>
              </a:rPr>
              <a:t>architecture</a:t>
            </a:r>
            <a:r>
              <a:rPr lang="en-US" sz="2100" dirty="0">
                <a:solidFill>
                  <a:schemeClr val="bg2"/>
                </a:solidFill>
                <a:latin typeface="Times New Roman" panose="02020603050405020304" pitchFamily="18" charset="0"/>
                <a:cs typeface="Times New Roman" panose="02020603050405020304" pitchFamily="18" charset="0"/>
              </a:rPr>
              <a:t>, and </a:t>
            </a:r>
            <a:r>
              <a:rPr lang="en-US" sz="2100" b="1" dirty="0">
                <a:solidFill>
                  <a:schemeClr val="bg2"/>
                </a:solidFill>
                <a:latin typeface="Times New Roman" panose="02020603050405020304" pitchFamily="18" charset="0"/>
                <a:cs typeface="Times New Roman" panose="02020603050405020304" pitchFamily="18" charset="0"/>
              </a:rPr>
              <a:t>refining requirements</a:t>
            </a:r>
            <a:r>
              <a:rPr lang="en-US" sz="2100" dirty="0">
                <a:solidFill>
                  <a:schemeClr val="bg2"/>
                </a:solidFill>
                <a:latin typeface="Times New Roman" panose="02020603050405020304" pitchFamily="18" charset="0"/>
                <a:cs typeface="Times New Roman" panose="02020603050405020304" pitchFamily="18" charset="0"/>
              </a:rPr>
              <a:t> with user feedback.</a:t>
            </a:r>
          </a:p>
          <a:p>
            <a:pPr>
              <a:buFont typeface="Arial" panose="020B0604020202020204" pitchFamily="34" charset="0"/>
              <a:buChar char="•"/>
            </a:pPr>
            <a:endParaRPr lang="en-US" sz="2000" dirty="0">
              <a:solidFill>
                <a:schemeClr val="bg2"/>
              </a:solidFill>
              <a:latin typeface="Times New Roman" panose="02020603050405020304" pitchFamily="18" charset="0"/>
              <a:cs typeface="Times New Roman" panose="02020603050405020304" pitchFamily="18" charset="0"/>
            </a:endParaRPr>
          </a:p>
          <a:p>
            <a:r>
              <a:rPr lang="en-US" sz="2000" b="1" dirty="0">
                <a:solidFill>
                  <a:srgbClr val="FF0000"/>
                </a:solidFill>
                <a:latin typeface="Times New Roman" panose="02020603050405020304" pitchFamily="18" charset="0"/>
                <a:cs typeface="Times New Roman" panose="02020603050405020304" pitchFamily="18" charset="0"/>
              </a:rPr>
              <a:t>COCOMO II Process Drivers (Mapped to Modern Principles):</a:t>
            </a:r>
            <a:endParaRPr lang="en-US" sz="2000" dirty="0">
              <a:solidFill>
                <a:schemeClr val="bg2"/>
              </a:solidFill>
              <a:latin typeface="Times New Roman" panose="02020603050405020304" pitchFamily="18" charset="0"/>
              <a:cs typeface="Times New Roman" panose="02020603050405020304" pitchFamily="18" charset="0"/>
            </a:endParaRPr>
          </a:p>
          <a:p>
            <a:r>
              <a:rPr lang="en-US" sz="2000" b="1" dirty="0">
                <a:solidFill>
                  <a:srgbClr val="00B0F0"/>
                </a:solidFill>
                <a:latin typeface="Times New Roman" panose="02020603050405020304" pitchFamily="18" charset="0"/>
                <a:cs typeface="Times New Roman" panose="02020603050405020304" pitchFamily="18" charset="0"/>
              </a:rPr>
              <a:t>2. Application </a:t>
            </a:r>
            <a:r>
              <a:rPr lang="en-US" sz="2000" b="1" dirty="0" err="1">
                <a:solidFill>
                  <a:srgbClr val="00B0F0"/>
                </a:solidFill>
                <a:latin typeface="Times New Roman" panose="02020603050405020304" pitchFamily="18" charset="0"/>
                <a:cs typeface="Times New Roman" panose="02020603050405020304" pitchFamily="18" charset="0"/>
              </a:rPr>
              <a:t>Precedentedness</a:t>
            </a:r>
            <a:r>
              <a:rPr lang="en-US" sz="2000" b="1" dirty="0">
                <a:solidFill>
                  <a:srgbClr val="00B0F0"/>
                </a:solidFill>
                <a:latin typeface="Times New Roman" panose="02020603050405020304" pitchFamily="18" charset="0"/>
                <a:cs typeface="Times New Roman" panose="02020603050405020304" pitchFamily="18" charset="0"/>
              </a:rPr>
              <a:t>:</a:t>
            </a:r>
          </a:p>
          <a:p>
            <a:r>
              <a:rPr lang="en-US" sz="2000" dirty="0">
                <a:solidFill>
                  <a:schemeClr val="bg2"/>
                </a:solidFill>
                <a:latin typeface="Times New Roman" panose="02020603050405020304" pitchFamily="18" charset="0"/>
                <a:cs typeface="Times New Roman" panose="02020603050405020304" pitchFamily="18" charset="0"/>
              </a:rPr>
              <a:t>Domain experience is very important.</a:t>
            </a:r>
          </a:p>
          <a:p>
            <a:r>
              <a:rPr lang="en-US" sz="2000" dirty="0">
                <a:solidFill>
                  <a:schemeClr val="bg2"/>
                </a:solidFill>
                <a:latin typeface="Times New Roman" panose="02020603050405020304" pitchFamily="18" charset="0"/>
                <a:cs typeface="Times New Roman" panose="02020603050405020304" pitchFamily="18" charset="0"/>
              </a:rPr>
              <a:t>For new (unprecedented) applications → early prototypes are needed to </a:t>
            </a:r>
            <a:r>
              <a:rPr lang="en-US" sz="2000" b="1" dirty="0">
                <a:solidFill>
                  <a:schemeClr val="bg2"/>
                </a:solidFill>
                <a:latin typeface="Times New Roman" panose="02020603050405020304" pitchFamily="18" charset="0"/>
                <a:cs typeface="Times New Roman" panose="02020603050405020304" pitchFamily="18" charset="0"/>
              </a:rPr>
              <a:t>reduce risks</a:t>
            </a:r>
            <a:r>
              <a:rPr lang="en-US" sz="2000" dirty="0">
                <a:solidFill>
                  <a:schemeClr val="bg2"/>
                </a:solidFill>
                <a:latin typeface="Times New Roman" panose="02020603050405020304" pitchFamily="18" charset="0"/>
                <a:cs typeface="Times New Roman" panose="02020603050405020304" pitchFamily="18" charset="0"/>
              </a:rPr>
              <a:t>.</a:t>
            </a:r>
          </a:p>
          <a:p>
            <a:r>
              <a:rPr lang="en-US" sz="2000" dirty="0">
                <a:solidFill>
                  <a:schemeClr val="bg2"/>
                </a:solidFill>
                <a:latin typeface="Times New Roman" panose="02020603050405020304" pitchFamily="18" charset="0"/>
                <a:cs typeface="Times New Roman" panose="02020603050405020304" pitchFamily="18" charset="0"/>
              </a:rPr>
              <a:t>This is why modern methods use </a:t>
            </a:r>
            <a:r>
              <a:rPr lang="en-US" sz="2000" b="1" dirty="0">
                <a:solidFill>
                  <a:schemeClr val="bg2"/>
                </a:solidFill>
                <a:latin typeface="Times New Roman" panose="02020603050405020304" pitchFamily="18" charset="0"/>
                <a:cs typeface="Times New Roman" panose="02020603050405020304" pitchFamily="18" charset="0"/>
              </a:rPr>
              <a:t>iterative life cycles</a:t>
            </a:r>
            <a:r>
              <a:rPr lang="en-US" sz="2000" dirty="0">
                <a:solidFill>
                  <a:schemeClr val="bg2"/>
                </a:solidFill>
                <a:latin typeface="Times New Roman" panose="02020603050405020304" pitchFamily="18" charset="0"/>
                <a:cs typeface="Times New Roman" panose="02020603050405020304" pitchFamily="18" charset="0"/>
              </a:rPr>
              <a:t>.</a:t>
            </a:r>
          </a:p>
          <a:p>
            <a:r>
              <a:rPr lang="en-US" sz="2000" b="1" dirty="0">
                <a:solidFill>
                  <a:srgbClr val="0070C0"/>
                </a:solidFill>
                <a:latin typeface="Times New Roman" panose="02020603050405020304" pitchFamily="18" charset="0"/>
                <a:cs typeface="Times New Roman" panose="02020603050405020304" pitchFamily="18" charset="0"/>
              </a:rPr>
              <a:t>3. Process Flexibility:</a:t>
            </a:r>
          </a:p>
          <a:p>
            <a:r>
              <a:rPr lang="en-US" sz="2000" dirty="0">
                <a:solidFill>
                  <a:schemeClr val="bg2"/>
                </a:solidFill>
                <a:latin typeface="Times New Roman" panose="02020603050405020304" pitchFamily="18" charset="0"/>
                <a:cs typeface="Times New Roman" panose="02020603050405020304" pitchFamily="18" charset="0"/>
              </a:rPr>
              <a:t>Modern software development requires </a:t>
            </a:r>
            <a:r>
              <a:rPr lang="en-US" sz="2000" b="1" dirty="0">
                <a:solidFill>
                  <a:schemeClr val="bg2"/>
                </a:solidFill>
                <a:latin typeface="Times New Roman" panose="02020603050405020304" pitchFamily="18" charset="0"/>
                <a:cs typeface="Times New Roman" panose="02020603050405020304" pitchFamily="18" charset="0"/>
              </a:rPr>
              <a:t>continuous changes</a:t>
            </a:r>
            <a:r>
              <a:rPr lang="en-US" sz="2000" dirty="0">
                <a:solidFill>
                  <a:schemeClr val="bg2"/>
                </a:solidFill>
                <a:latin typeface="Times New Roman" panose="02020603050405020304" pitchFamily="18" charset="0"/>
                <a:cs typeface="Times New Roman" panose="02020603050405020304" pitchFamily="18" charset="0"/>
              </a:rPr>
              <a:t> because requirements and solutions evolve.</a:t>
            </a:r>
          </a:p>
          <a:p>
            <a:r>
              <a:rPr lang="en-US" sz="2000" dirty="0">
                <a:solidFill>
                  <a:schemeClr val="bg2"/>
                </a:solidFill>
                <a:latin typeface="Times New Roman" panose="02020603050405020304" pitchFamily="18" charset="0"/>
                <a:cs typeface="Times New Roman" panose="02020603050405020304" pitchFamily="18" charset="0"/>
              </a:rPr>
              <a:t>A strong </a:t>
            </a:r>
            <a:r>
              <a:rPr lang="en-US" sz="2000" b="1" dirty="0">
                <a:solidFill>
                  <a:schemeClr val="bg2"/>
                </a:solidFill>
                <a:latin typeface="Times New Roman" panose="02020603050405020304" pitchFamily="18" charset="0"/>
                <a:cs typeface="Times New Roman" panose="02020603050405020304" pitchFamily="18" charset="0"/>
              </a:rPr>
              <a:t>change-management system</a:t>
            </a:r>
            <a:r>
              <a:rPr lang="en-US" sz="2000" dirty="0">
                <a:solidFill>
                  <a:schemeClr val="bg2"/>
                </a:solidFill>
                <a:latin typeface="Times New Roman" panose="02020603050405020304" pitchFamily="18" charset="0"/>
                <a:cs typeface="Times New Roman" panose="02020603050405020304" pitchFamily="18" charset="0"/>
              </a:rPr>
              <a:t> is necessary to handle evolving artifacts, plans, and designs.</a:t>
            </a:r>
          </a:p>
          <a:p>
            <a:endParaRPr lang="en-US" sz="20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1289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EB8421-703C-6193-7605-2158BA3DB143}"/>
              </a:ext>
            </a:extLst>
          </p:cNvPr>
          <p:cNvSpPr txBox="1"/>
          <p:nvPr/>
        </p:nvSpPr>
        <p:spPr>
          <a:xfrm>
            <a:off x="463462" y="175364"/>
            <a:ext cx="8580330" cy="6247864"/>
          </a:xfrm>
          <a:prstGeom prst="rect">
            <a:avLst/>
          </a:prstGeom>
          <a:noFill/>
        </p:spPr>
        <p:txBody>
          <a:bodyPr wrap="square">
            <a:spAutoFit/>
          </a:bodyPr>
          <a:lstStyle/>
          <a:p>
            <a:pPr>
              <a:buNone/>
            </a:pPr>
            <a:r>
              <a:rPr lang="en-US" sz="2000" b="1" dirty="0">
                <a:solidFill>
                  <a:schemeClr val="accent2">
                    <a:lumMod val="50000"/>
                  </a:schemeClr>
                </a:solidFill>
                <a:latin typeface="Times New Roman" panose="02020603050405020304" pitchFamily="18" charset="0"/>
                <a:cs typeface="Times New Roman" panose="02020603050405020304" pitchFamily="18" charset="0"/>
              </a:rPr>
              <a:t>4. Architecture Risk Resolution</a:t>
            </a:r>
          </a:p>
          <a:p>
            <a:pPr>
              <a:buFont typeface="Arial" panose="020B0604020202020204" pitchFamily="34" charset="0"/>
              <a:buChar char="•"/>
            </a:pPr>
            <a:r>
              <a:rPr lang="en-US" sz="2000" b="1" dirty="0">
                <a:solidFill>
                  <a:schemeClr val="bg2"/>
                </a:solidFill>
                <a:latin typeface="Times New Roman" panose="02020603050405020304" pitchFamily="18" charset="0"/>
                <a:cs typeface="Times New Roman" panose="02020603050405020304" pitchFamily="18" charset="0"/>
              </a:rPr>
              <a:t>Architecture-first</a:t>
            </a:r>
            <a:r>
              <a:rPr lang="en-US" sz="2000" dirty="0">
                <a:solidFill>
                  <a:schemeClr val="bg2"/>
                </a:solidFill>
                <a:latin typeface="Times New Roman" panose="02020603050405020304" pitchFamily="18" charset="0"/>
                <a:cs typeface="Times New Roman" panose="02020603050405020304" pitchFamily="18" charset="0"/>
              </a:rPr>
              <a:t> is a key principle.</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Architecture must be stabilized early before building all components.</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This early architectural focus guides:</a:t>
            </a:r>
          </a:p>
          <a:p>
            <a:pPr marL="742950" lvl="1" indent="-28575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infrastructure decisions</a:t>
            </a:r>
          </a:p>
          <a:p>
            <a:pPr marL="742950" lvl="1" indent="-28575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component make/buy decisions</a:t>
            </a:r>
          </a:p>
          <a:p>
            <a:pPr marL="742950" lvl="1" indent="-28575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common mechanisms and control flows</a:t>
            </a:r>
            <a:br>
              <a:rPr lang="en-US" sz="2000" dirty="0">
                <a:solidFill>
                  <a:schemeClr val="bg2"/>
                </a:solidFill>
                <a:latin typeface="Times New Roman" panose="02020603050405020304" pitchFamily="18" charset="0"/>
                <a:cs typeface="Times New Roman" panose="02020603050405020304" pitchFamily="18" charset="0"/>
              </a:rPr>
            </a:br>
            <a:endParaRPr lang="en-US" sz="2000" dirty="0">
              <a:solidFill>
                <a:schemeClr val="bg2"/>
              </a:solidFill>
              <a:latin typeface="Times New Roman" panose="02020603050405020304" pitchFamily="18" charset="0"/>
              <a:cs typeface="Times New Roman" panose="02020603050405020304" pitchFamily="18" charset="0"/>
            </a:endParaRPr>
          </a:p>
          <a:p>
            <a:pPr>
              <a:buNone/>
            </a:pPr>
            <a:r>
              <a:rPr lang="en-US" sz="2000" b="1" dirty="0">
                <a:solidFill>
                  <a:srgbClr val="7030A0"/>
                </a:solidFill>
                <a:latin typeface="Times New Roman" panose="02020603050405020304" pitchFamily="18" charset="0"/>
                <a:cs typeface="Times New Roman" panose="02020603050405020304" pitchFamily="18" charset="0"/>
              </a:rPr>
              <a:t>5. Team Cohesion</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Successful teams share common goals and priorities.</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Poor communication causes project failures.</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Relying only on document-based communication creates misunderstandings, so teamwork and interactive communication are essential.</a:t>
            </a:r>
            <a:br>
              <a:rPr lang="en-US" sz="2000" dirty="0">
                <a:solidFill>
                  <a:schemeClr val="bg2"/>
                </a:solidFill>
                <a:latin typeface="Times New Roman" panose="02020603050405020304" pitchFamily="18" charset="0"/>
                <a:cs typeface="Times New Roman" panose="02020603050405020304" pitchFamily="18" charset="0"/>
              </a:rPr>
            </a:br>
            <a:endParaRPr lang="en-US" sz="2000" dirty="0">
              <a:solidFill>
                <a:schemeClr val="bg2"/>
              </a:solidFill>
              <a:latin typeface="Times New Roman" panose="02020603050405020304" pitchFamily="18" charset="0"/>
              <a:cs typeface="Times New Roman" panose="02020603050405020304" pitchFamily="18" charset="0"/>
            </a:endParaRPr>
          </a:p>
          <a:p>
            <a:pPr>
              <a:buNone/>
            </a:pPr>
            <a:r>
              <a:rPr lang="en-US" sz="2000" b="1" dirty="0">
                <a:solidFill>
                  <a:srgbClr val="002060"/>
                </a:solidFill>
                <a:latin typeface="Times New Roman" panose="02020603050405020304" pitchFamily="18" charset="0"/>
                <a:cs typeface="Times New Roman" panose="02020603050405020304" pitchFamily="18" charset="0"/>
              </a:rPr>
              <a:t>6. Software Process Maturity</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SEI’s </a:t>
            </a:r>
            <a:r>
              <a:rPr lang="en-US" sz="2000" b="1" dirty="0">
                <a:solidFill>
                  <a:schemeClr val="bg2"/>
                </a:solidFill>
                <a:latin typeface="Times New Roman" panose="02020603050405020304" pitchFamily="18" charset="0"/>
                <a:cs typeface="Times New Roman" panose="02020603050405020304" pitchFamily="18" charset="0"/>
              </a:rPr>
              <a:t>CMM</a:t>
            </a:r>
            <a:r>
              <a:rPr lang="en-US" sz="2000" dirty="0">
                <a:solidFill>
                  <a:schemeClr val="bg2"/>
                </a:solidFill>
                <a:latin typeface="Times New Roman" panose="02020603050405020304" pitchFamily="18" charset="0"/>
                <a:cs typeface="Times New Roman" panose="02020603050405020304" pitchFamily="18" charset="0"/>
              </a:rPr>
              <a:t> is a standard for measuring process maturity.</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A mature software process helps avoid development risks and use organizational knowledge effectively.</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Like domain experience improves application planning, process maturity improves development planning.</a:t>
            </a:r>
          </a:p>
        </p:txBody>
      </p:sp>
    </p:spTree>
    <p:extLst>
      <p:ext uri="{BB962C8B-B14F-4D97-AF65-F5344CB8AC3E}">
        <p14:creationId xmlns:p14="http://schemas.microsoft.com/office/powerpoint/2010/main" val="3360737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43472-7A43-0E11-1B9A-DA7A50714D55}"/>
              </a:ext>
            </a:extLst>
          </p:cNvPr>
          <p:cNvSpPr>
            <a:spLocks noGrp="1"/>
          </p:cNvSpPr>
          <p:nvPr>
            <p:ph type="title"/>
          </p:nvPr>
        </p:nvSpPr>
        <p:spPr>
          <a:xfrm>
            <a:off x="0" y="26201"/>
            <a:ext cx="9692640" cy="651662"/>
          </a:xfrm>
        </p:spPr>
        <p:txBody>
          <a:bodyPr>
            <a:normAutofit fontScale="90000"/>
          </a:bodyPr>
          <a:lstStyle/>
          <a:p>
            <a:r>
              <a:rPr lang="en-US" kern="0" dirty="0">
                <a:solidFill>
                  <a:srgbClr val="000000"/>
                </a:solidFill>
                <a:latin typeface="Times New Roman" panose="02020603050405020304" pitchFamily="18" charset="0"/>
                <a:cs typeface="Times New Roman" panose="02020603050405020304" pitchFamily="18" charset="0"/>
                <a:sym typeface="Arial"/>
              </a:rPr>
              <a:t>Engineering and production stages:</a:t>
            </a:r>
            <a:endParaRPr lang="en-IN" dirty="0"/>
          </a:p>
        </p:txBody>
      </p:sp>
      <p:sp>
        <p:nvSpPr>
          <p:cNvPr id="3" name="Content Placeholder 2">
            <a:extLst>
              <a:ext uri="{FF2B5EF4-FFF2-40B4-BE49-F238E27FC236}">
                <a16:creationId xmlns:a16="http://schemas.microsoft.com/office/drawing/2014/main" id="{8DF82D2E-08E7-79C0-4F1B-EC6ACC9B4786}"/>
              </a:ext>
            </a:extLst>
          </p:cNvPr>
          <p:cNvSpPr>
            <a:spLocks noGrp="1"/>
          </p:cNvSpPr>
          <p:nvPr>
            <p:ph idx="1"/>
          </p:nvPr>
        </p:nvSpPr>
        <p:spPr>
          <a:xfrm>
            <a:off x="222212" y="789140"/>
            <a:ext cx="9911344" cy="4351337"/>
          </a:xfrm>
        </p:spPr>
        <p:txBody>
          <a:bodyPr>
            <a:normAutofit/>
          </a:bodyPr>
          <a:lstStyle/>
          <a:p>
            <a:pPr marL="0" indent="0" algn="just">
              <a:buNone/>
            </a:pPr>
            <a:r>
              <a:rPr lang="en-US" sz="2400" dirty="0">
                <a:solidFill>
                  <a:schemeClr val="bg2"/>
                </a:solidFill>
                <a:latin typeface="Times New Roman" panose="02020603050405020304" pitchFamily="18" charset="0"/>
                <a:cs typeface="Times New Roman" panose="02020603050405020304" pitchFamily="18" charset="0"/>
              </a:rPr>
              <a:t>To boost ROI and achieve economies of scale, software development must embrace automation and component-based design. This shift enables a structured life-cycle with distinct engineering and production stages. </a:t>
            </a:r>
          </a:p>
          <a:p>
            <a:pPr marL="0" indent="0" algn="just">
              <a:buNone/>
            </a:pPr>
            <a:r>
              <a:rPr lang="en-US" sz="2400" dirty="0">
                <a:solidFill>
                  <a:schemeClr val="bg2"/>
                </a:solidFill>
                <a:latin typeface="Times New Roman" panose="02020603050405020304" pitchFamily="18" charset="0"/>
                <a:cs typeface="Times New Roman" panose="02020603050405020304" pitchFamily="18" charset="0"/>
              </a:rPr>
              <a:t>At the first order are the following 2 stages of the life cycle:</a:t>
            </a:r>
          </a:p>
          <a:p>
            <a:pPr marL="0" lvl="0" indent="0" eaLnBrk="0" fontAlgn="base" hangingPunct="0">
              <a:lnSpc>
                <a:spcPct val="100000"/>
              </a:lnSpc>
              <a:spcBef>
                <a:spcPct val="0"/>
              </a:spcBef>
              <a:spcAft>
                <a:spcPct val="0"/>
              </a:spcAft>
              <a:buClrTx/>
              <a:buSzTx/>
              <a:buNone/>
            </a:pPr>
            <a:r>
              <a:rPr lang="en-US" altLang="en-US" sz="2400" b="1" dirty="0">
                <a:solidFill>
                  <a:schemeClr val="bg2"/>
                </a:solidFill>
                <a:latin typeface="Times New Roman" panose="02020603050405020304" pitchFamily="18" charset="0"/>
                <a:cs typeface="Times New Roman" panose="02020603050405020304" pitchFamily="18" charset="0"/>
              </a:rPr>
              <a:t>1. The engineering stage</a:t>
            </a:r>
            <a:r>
              <a:rPr lang="en-US" altLang="en-US" sz="2400" dirty="0">
                <a:solidFill>
                  <a:schemeClr val="bg2"/>
                </a:solidFill>
                <a:latin typeface="Times New Roman" panose="02020603050405020304" pitchFamily="18" charset="0"/>
                <a:cs typeface="Times New Roman" panose="02020603050405020304" pitchFamily="18" charset="0"/>
              </a:rPr>
              <a:t>, driven by less predictable but smaller teams doing design and synthesis activities.</a:t>
            </a:r>
          </a:p>
          <a:p>
            <a:pPr marL="0" lvl="0" indent="0" eaLnBrk="0" fontAlgn="base" hangingPunct="0">
              <a:lnSpc>
                <a:spcPct val="100000"/>
              </a:lnSpc>
              <a:spcBef>
                <a:spcPct val="0"/>
              </a:spcBef>
              <a:spcAft>
                <a:spcPct val="0"/>
              </a:spcAft>
              <a:buClrTx/>
              <a:buSzTx/>
              <a:buNone/>
            </a:pPr>
            <a:r>
              <a:rPr lang="en-US" altLang="en-US" sz="2400" b="1" dirty="0">
                <a:solidFill>
                  <a:schemeClr val="bg2"/>
                </a:solidFill>
                <a:latin typeface="Times New Roman" panose="02020603050405020304" pitchFamily="18" charset="0"/>
                <a:cs typeface="Times New Roman" panose="02020603050405020304" pitchFamily="18" charset="0"/>
              </a:rPr>
              <a:t>2. The production stage</a:t>
            </a:r>
            <a:r>
              <a:rPr lang="en-US" altLang="en-US" sz="2400" dirty="0">
                <a:solidFill>
                  <a:schemeClr val="bg2"/>
                </a:solidFill>
                <a:latin typeface="Times New Roman" panose="02020603050405020304" pitchFamily="18" charset="0"/>
                <a:cs typeface="Times New Roman" panose="02020603050405020304" pitchFamily="18" charset="0"/>
              </a:rPr>
              <a:t>, driven by more predictable but larger teams doing construction, test, and deployment activities.</a:t>
            </a:r>
          </a:p>
          <a:p>
            <a:pPr marL="0" indent="0" algn="just">
              <a:buNone/>
            </a:pPr>
            <a:endParaRPr lang="en-IN" sz="2400" dirty="0">
              <a:solidFill>
                <a:schemeClr val="bg2"/>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57DB8C2-18E2-BF4B-FA61-B3CCA89969BA}"/>
              </a:ext>
            </a:extLst>
          </p:cNvPr>
          <p:cNvPicPr>
            <a:picLocks noChangeAspect="1"/>
          </p:cNvPicPr>
          <p:nvPr/>
        </p:nvPicPr>
        <p:blipFill>
          <a:blip r:embed="rId2"/>
          <a:srcRect t="1965"/>
          <a:stretch>
            <a:fillRect/>
          </a:stretch>
        </p:blipFill>
        <p:spPr>
          <a:xfrm>
            <a:off x="1981200" y="3916680"/>
            <a:ext cx="6172200" cy="2941319"/>
          </a:xfrm>
          <a:prstGeom prst="rect">
            <a:avLst/>
          </a:prstGeom>
        </p:spPr>
      </p:pic>
    </p:spTree>
    <p:extLst>
      <p:ext uri="{BB962C8B-B14F-4D97-AF65-F5344CB8AC3E}">
        <p14:creationId xmlns:p14="http://schemas.microsoft.com/office/powerpoint/2010/main" val="526728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3A44CC-6EE8-016C-7EBA-C11A1AF25B17}"/>
              </a:ext>
            </a:extLst>
          </p:cNvPr>
          <p:cNvSpPr txBox="1"/>
          <p:nvPr/>
        </p:nvSpPr>
        <p:spPr>
          <a:xfrm>
            <a:off x="266700" y="162153"/>
            <a:ext cx="10845800" cy="655564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1. Engineering and Production Stages in Software Development:</a:t>
            </a:r>
          </a:p>
          <a:p>
            <a:pPr>
              <a:buFont typeface="Arial" panose="020B0604020202020204" pitchFamily="34" charset="0"/>
              <a:buChar char="•"/>
            </a:pPr>
            <a:r>
              <a:rPr lang="en-US" sz="2000" b="1" dirty="0">
                <a:solidFill>
                  <a:schemeClr val="bg2"/>
                </a:solidFill>
                <a:latin typeface="Times New Roman" panose="02020603050405020304" pitchFamily="18" charset="0"/>
                <a:cs typeface="Times New Roman" panose="02020603050405020304" pitchFamily="18" charset="0"/>
              </a:rPr>
              <a:t> Life-cycle description</a:t>
            </a:r>
            <a:r>
              <a:rPr lang="en-US" sz="2000" dirty="0">
                <a:solidFill>
                  <a:schemeClr val="bg2"/>
                </a:solidFill>
                <a:latin typeface="Times New Roman" panose="02020603050405020304" pitchFamily="18" charset="0"/>
                <a:cs typeface="Times New Roman" panose="02020603050405020304" pitchFamily="18" charset="0"/>
              </a:rPr>
              <a:t> is based on economic principles to improve ROI.</a:t>
            </a:r>
          </a:p>
          <a:p>
            <a:pPr>
              <a:buFont typeface="Arial" panose="020B0604020202020204" pitchFamily="34" charset="0"/>
              <a:buChar char="•"/>
            </a:pPr>
            <a:r>
              <a:rPr lang="en-US" sz="2000" b="1" dirty="0">
                <a:solidFill>
                  <a:schemeClr val="bg2"/>
                </a:solidFill>
                <a:latin typeface="Times New Roman" panose="02020603050405020304" pitchFamily="18" charset="0"/>
                <a:cs typeface="Times New Roman" panose="02020603050405020304" pitchFamily="18" charset="0"/>
              </a:rPr>
              <a:t> Process automation</a:t>
            </a:r>
            <a:r>
              <a:rPr lang="en-US" sz="2000" dirty="0">
                <a:solidFill>
                  <a:schemeClr val="bg2"/>
                </a:solidFill>
                <a:latin typeface="Times New Roman" panose="02020603050405020304" pitchFamily="18" charset="0"/>
                <a:cs typeface="Times New Roman" panose="02020603050405020304" pitchFamily="18" charset="0"/>
              </a:rPr>
              <a:t> and </a:t>
            </a:r>
            <a:r>
              <a:rPr lang="en-US" sz="2000" b="1" dirty="0">
                <a:solidFill>
                  <a:schemeClr val="bg2"/>
                </a:solidFill>
                <a:latin typeface="Times New Roman" panose="02020603050405020304" pitchFamily="18" charset="0"/>
                <a:cs typeface="Times New Roman" panose="02020603050405020304" pitchFamily="18" charset="0"/>
              </a:rPr>
              <a:t>component-based development</a:t>
            </a:r>
            <a:r>
              <a:rPr lang="en-US" sz="2000" dirty="0">
                <a:solidFill>
                  <a:schemeClr val="bg2"/>
                </a:solidFill>
                <a:latin typeface="Times New Roman" panose="02020603050405020304" pitchFamily="18" charset="0"/>
                <a:cs typeface="Times New Roman" panose="02020603050405020304" pitchFamily="18" charset="0"/>
              </a:rPr>
              <a:t> are essential for scalability and efficiency.</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Two main stages:</a:t>
            </a:r>
          </a:p>
          <a:p>
            <a:pPr marL="742950" lvl="1" indent="-285750">
              <a:buFont typeface="Arial" panose="020B0604020202020204" pitchFamily="34" charset="0"/>
              <a:buChar char="•"/>
            </a:pPr>
            <a:r>
              <a:rPr lang="en-US" sz="2000" b="1" dirty="0">
                <a:solidFill>
                  <a:schemeClr val="bg2"/>
                </a:solidFill>
                <a:latin typeface="Times New Roman" panose="02020603050405020304" pitchFamily="18" charset="0"/>
                <a:cs typeface="Times New Roman" panose="02020603050405020304" pitchFamily="18" charset="0"/>
              </a:rPr>
              <a:t>Engineering Stage</a:t>
            </a:r>
            <a:r>
              <a:rPr lang="en-US" sz="2000" dirty="0">
                <a:solidFill>
                  <a:schemeClr val="bg2"/>
                </a:solidFill>
                <a:latin typeface="Times New Roman" panose="02020603050405020304" pitchFamily="18" charset="0"/>
                <a:cs typeface="Times New Roman" panose="02020603050405020304" pitchFamily="18" charset="0"/>
              </a:rPr>
              <a:t>: Small, less predictable teams focus on design and synthesis.</a:t>
            </a:r>
          </a:p>
          <a:p>
            <a:pPr marL="742950" lvl="1" indent="-285750">
              <a:buFont typeface="Arial" panose="020B0604020202020204" pitchFamily="34" charset="0"/>
              <a:buChar char="•"/>
            </a:pPr>
            <a:r>
              <a:rPr lang="en-US" sz="2000" b="1" dirty="0">
                <a:solidFill>
                  <a:schemeClr val="bg2"/>
                </a:solidFill>
                <a:latin typeface="Times New Roman" panose="02020603050405020304" pitchFamily="18" charset="0"/>
                <a:cs typeface="Times New Roman" panose="02020603050405020304" pitchFamily="18" charset="0"/>
              </a:rPr>
              <a:t>Production Stage</a:t>
            </a:r>
            <a:r>
              <a:rPr lang="en-US" sz="2000" dirty="0">
                <a:solidFill>
                  <a:schemeClr val="bg2"/>
                </a:solidFill>
                <a:latin typeface="Times New Roman" panose="02020603050405020304" pitchFamily="18" charset="0"/>
                <a:cs typeface="Times New Roman" panose="02020603050405020304" pitchFamily="18" charset="0"/>
              </a:rPr>
              <a:t>: Larger, more predictable teams handle construction, testing, and deployment.</a:t>
            </a:r>
          </a:p>
          <a:p>
            <a:pPr lvl="1"/>
            <a:endParaRPr lang="en-US" sz="2000" dirty="0">
              <a:solidFill>
                <a:srgbClr val="0070C0"/>
              </a:solidFill>
              <a:latin typeface="Times New Roman" panose="02020603050405020304" pitchFamily="18" charset="0"/>
              <a:cs typeface="Times New Roman" panose="02020603050405020304" pitchFamily="18" charset="0"/>
            </a:endParaRPr>
          </a:p>
          <a:p>
            <a:pPr>
              <a:buNone/>
            </a:pPr>
            <a:r>
              <a:rPr lang="en-US" sz="2000" b="1" dirty="0">
                <a:solidFill>
                  <a:srgbClr val="0070C0"/>
                </a:solidFill>
                <a:latin typeface="Times New Roman" panose="02020603050405020304" pitchFamily="18" charset="0"/>
                <a:cs typeface="Times New Roman" panose="02020603050405020304" pitchFamily="18" charset="0"/>
              </a:rPr>
              <a:t>2. Transition Between Engineering and Production:</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Transition requires </a:t>
            </a:r>
            <a:r>
              <a:rPr lang="en-US" sz="2000" b="1" dirty="0">
                <a:solidFill>
                  <a:schemeClr val="bg2"/>
                </a:solidFill>
                <a:latin typeface="Times New Roman" panose="02020603050405020304" pitchFamily="18" charset="0"/>
                <a:cs typeface="Times New Roman" panose="02020603050405020304" pitchFamily="18" charset="0"/>
              </a:rPr>
              <a:t>stakeholder agreement</a:t>
            </a:r>
            <a:r>
              <a:rPr lang="en-US" sz="2000" dirty="0">
                <a:solidFill>
                  <a:schemeClr val="bg2"/>
                </a:solidFill>
                <a:latin typeface="Times New Roman" panose="02020603050405020304" pitchFamily="18" charset="0"/>
                <a:cs typeface="Times New Roman" panose="02020603050405020304" pitchFamily="18" charset="0"/>
              </a:rPr>
              <a:t> and </a:t>
            </a:r>
            <a:r>
              <a:rPr lang="en-US" sz="2000" b="1" dirty="0">
                <a:solidFill>
                  <a:schemeClr val="bg2"/>
                </a:solidFill>
                <a:latin typeface="Times New Roman" panose="02020603050405020304" pitchFamily="18" charset="0"/>
                <a:cs typeface="Times New Roman" panose="02020603050405020304" pitchFamily="18" charset="0"/>
              </a:rPr>
              <a:t>shared understanding</a:t>
            </a:r>
            <a:r>
              <a:rPr lang="en-US" sz="2000"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Critique of two-stage models: oversimplified and not suitable for complex projects.</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Proposed </a:t>
            </a:r>
            <a:r>
              <a:rPr lang="en-US" sz="2000" b="1" dirty="0">
                <a:solidFill>
                  <a:schemeClr val="bg2"/>
                </a:solidFill>
                <a:latin typeface="Times New Roman" panose="02020603050405020304" pitchFamily="18" charset="0"/>
                <a:cs typeface="Times New Roman" panose="02020603050405020304" pitchFamily="18" charset="0"/>
              </a:rPr>
              <a:t>four-phase model</a:t>
            </a:r>
            <a:r>
              <a:rPr lang="en-US" sz="2000" dirty="0">
                <a:solidFill>
                  <a:schemeClr val="bg2"/>
                </a:solidFill>
                <a:latin typeface="Times New Roman" panose="02020603050405020304" pitchFamily="18" charset="0"/>
                <a:cs typeface="Times New Roman" panose="02020603050405020304" pitchFamily="18" charset="0"/>
              </a:rPr>
              <a:t> aligned with Boehm’s Spiral Model:</a:t>
            </a:r>
          </a:p>
          <a:p>
            <a:pPr marL="742950" lvl="1" indent="-285750">
              <a:buFont typeface="Arial" panose="020B0604020202020204" pitchFamily="34" charset="0"/>
              <a:buChar char="•"/>
            </a:pPr>
            <a:r>
              <a:rPr lang="en-US" sz="2000" b="1" dirty="0">
                <a:solidFill>
                  <a:schemeClr val="bg2"/>
                </a:solidFill>
                <a:latin typeface="Times New Roman" panose="02020603050405020304" pitchFamily="18" charset="0"/>
                <a:cs typeface="Times New Roman" panose="02020603050405020304" pitchFamily="18" charset="0"/>
              </a:rPr>
              <a:t>Inception</a:t>
            </a:r>
            <a:r>
              <a:rPr lang="en-US" sz="2000" dirty="0">
                <a:solidFill>
                  <a:schemeClr val="bg2"/>
                </a:solidFill>
                <a:latin typeface="Times New Roman" panose="02020603050405020304" pitchFamily="18" charset="0"/>
                <a:cs typeface="Times New Roman" panose="02020603050405020304" pitchFamily="18" charset="0"/>
              </a:rPr>
              <a:t>, </a:t>
            </a:r>
            <a:r>
              <a:rPr lang="en-US" sz="2000" b="1" dirty="0">
                <a:solidFill>
                  <a:schemeClr val="bg2"/>
                </a:solidFill>
                <a:latin typeface="Times New Roman" panose="02020603050405020304" pitchFamily="18" charset="0"/>
                <a:cs typeface="Times New Roman" panose="02020603050405020304" pitchFamily="18" charset="0"/>
              </a:rPr>
              <a:t>Elaboration</a:t>
            </a:r>
            <a:r>
              <a:rPr lang="en-US" sz="2000" dirty="0">
                <a:solidFill>
                  <a:schemeClr val="bg2"/>
                </a:solidFill>
                <a:latin typeface="Times New Roman" panose="02020603050405020304" pitchFamily="18" charset="0"/>
                <a:cs typeface="Times New Roman" panose="02020603050405020304" pitchFamily="18" charset="0"/>
              </a:rPr>
              <a:t>, </a:t>
            </a:r>
            <a:r>
              <a:rPr lang="en-US" sz="2000" b="1" dirty="0">
                <a:solidFill>
                  <a:schemeClr val="bg2"/>
                </a:solidFill>
                <a:latin typeface="Times New Roman" panose="02020603050405020304" pitchFamily="18" charset="0"/>
                <a:cs typeface="Times New Roman" panose="02020603050405020304" pitchFamily="18" charset="0"/>
              </a:rPr>
              <a:t>Construction</a:t>
            </a:r>
            <a:r>
              <a:rPr lang="en-US" sz="2000" dirty="0">
                <a:solidFill>
                  <a:schemeClr val="bg2"/>
                </a:solidFill>
                <a:latin typeface="Times New Roman" panose="02020603050405020304" pitchFamily="18" charset="0"/>
                <a:cs typeface="Times New Roman" panose="02020603050405020304" pitchFamily="18" charset="0"/>
              </a:rPr>
              <a:t>, </a:t>
            </a:r>
            <a:r>
              <a:rPr lang="en-US" sz="2000" b="1" dirty="0">
                <a:solidFill>
                  <a:schemeClr val="bg2"/>
                </a:solidFill>
                <a:latin typeface="Times New Roman" panose="02020603050405020304" pitchFamily="18" charset="0"/>
                <a:cs typeface="Times New Roman" panose="02020603050405020304" pitchFamily="18" charset="0"/>
              </a:rPr>
              <a:t>Transition.</a:t>
            </a:r>
            <a:endParaRPr lang="en-US" sz="2000" dirty="0">
              <a:solidFill>
                <a:schemeClr val="bg2"/>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Spiral size reflects </a:t>
            </a:r>
            <a:r>
              <a:rPr lang="en-US" sz="2000" b="1" dirty="0">
                <a:solidFill>
                  <a:schemeClr val="bg2"/>
                </a:solidFill>
                <a:latin typeface="Times New Roman" panose="02020603050405020304" pitchFamily="18" charset="0"/>
                <a:cs typeface="Times New Roman" panose="02020603050405020304" pitchFamily="18" charset="0"/>
              </a:rPr>
              <a:t>project inertia</a:t>
            </a:r>
            <a:r>
              <a:rPr lang="en-US" sz="2000" dirty="0">
                <a:solidFill>
                  <a:schemeClr val="bg2"/>
                </a:solidFill>
                <a:latin typeface="Times New Roman" panose="02020603050405020304" pitchFamily="18" charset="0"/>
                <a:cs typeface="Times New Roman" panose="02020603050405020304" pitchFamily="18" charset="0"/>
              </a:rPr>
              <a:t>, which affects:</a:t>
            </a:r>
          </a:p>
          <a:p>
            <a:pPr marL="742950" lvl="1" indent="-28575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Artifact consistency</a:t>
            </a:r>
          </a:p>
          <a:p>
            <a:pPr marL="742950" lvl="1" indent="-28575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Regression testing</a:t>
            </a:r>
          </a:p>
          <a:p>
            <a:pPr marL="742950" lvl="1" indent="-28575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Documentation</a:t>
            </a:r>
          </a:p>
          <a:p>
            <a:pPr marL="742950" lvl="1" indent="-28575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Quality analysis</a:t>
            </a:r>
          </a:p>
          <a:p>
            <a:pPr marL="742950" lvl="1" indent="-28575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Configuration control</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High inertia complicates changes in architecture, requirements, planning, and organization.</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 Conventional life cycles are </a:t>
            </a:r>
            <a:r>
              <a:rPr lang="en-US" sz="2000" b="1" dirty="0">
                <a:solidFill>
                  <a:schemeClr val="bg2"/>
                </a:solidFill>
                <a:latin typeface="Times New Roman" panose="02020603050405020304" pitchFamily="18" charset="0"/>
                <a:cs typeface="Times New Roman" panose="02020603050405020304" pitchFamily="18" charset="0"/>
              </a:rPr>
              <a:t>sequential</a:t>
            </a:r>
            <a:r>
              <a:rPr lang="en-US" sz="2000" dirty="0">
                <a:solidFill>
                  <a:schemeClr val="bg2"/>
                </a:solidFill>
                <a:latin typeface="Times New Roman" panose="02020603050405020304" pitchFamily="18" charset="0"/>
                <a:cs typeface="Times New Roman" panose="02020603050405020304" pitchFamily="18" charset="0"/>
              </a:rPr>
              <a:t>, named after primary activities (e.g., requirements, design, coding, testing).</a:t>
            </a:r>
          </a:p>
        </p:txBody>
      </p:sp>
    </p:spTree>
    <p:extLst>
      <p:ext uri="{BB962C8B-B14F-4D97-AF65-F5344CB8AC3E}">
        <p14:creationId xmlns:p14="http://schemas.microsoft.com/office/powerpoint/2010/main" val="1533251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AA51E4-C392-E4A7-B27C-ED00C86B7099}"/>
              </a:ext>
            </a:extLst>
          </p:cNvPr>
          <p:cNvPicPr>
            <a:picLocks noChangeAspect="1"/>
          </p:cNvPicPr>
          <p:nvPr/>
        </p:nvPicPr>
        <p:blipFill>
          <a:blip r:embed="rId2"/>
          <a:stretch>
            <a:fillRect/>
          </a:stretch>
        </p:blipFill>
        <p:spPr>
          <a:xfrm>
            <a:off x="515203" y="875943"/>
            <a:ext cx="10526594" cy="5106113"/>
          </a:xfrm>
          <a:prstGeom prst="rect">
            <a:avLst/>
          </a:prstGeom>
        </p:spPr>
      </p:pic>
    </p:spTree>
    <p:extLst>
      <p:ext uri="{BB962C8B-B14F-4D97-AF65-F5344CB8AC3E}">
        <p14:creationId xmlns:p14="http://schemas.microsoft.com/office/powerpoint/2010/main" val="2850768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28C83C-D081-7798-149D-BDF49560A588}"/>
              </a:ext>
            </a:extLst>
          </p:cNvPr>
          <p:cNvSpPr txBox="1"/>
          <p:nvPr/>
        </p:nvSpPr>
        <p:spPr>
          <a:xfrm>
            <a:off x="126999" y="101600"/>
            <a:ext cx="11108847" cy="7109639"/>
          </a:xfrm>
          <a:prstGeom prst="rect">
            <a:avLst/>
          </a:prstGeom>
          <a:noFill/>
        </p:spPr>
        <p:txBody>
          <a:bodyPr wrap="square" rtlCol="0">
            <a:spAutoFit/>
          </a:bodyPr>
          <a:lstStyle/>
          <a:p>
            <a:pPr marL="285750" indent="-285750">
              <a:buFont typeface="Wingdings" panose="05000000000000000000" pitchFamily="2" charset="2"/>
              <a:buChar char="q"/>
            </a:pPr>
            <a:r>
              <a:rPr lang="en-IN" sz="2400" b="1" dirty="0">
                <a:solidFill>
                  <a:schemeClr val="bg2"/>
                </a:solidFill>
                <a:latin typeface="Times New Roman" panose="02020603050405020304" pitchFamily="18" charset="0"/>
                <a:cs typeface="Times New Roman" panose="02020603050405020304" pitchFamily="18" charset="0"/>
              </a:rPr>
              <a:t> Inception Phase:</a:t>
            </a:r>
          </a:p>
          <a:p>
            <a:r>
              <a:rPr lang="en-US" sz="2400" dirty="0">
                <a:solidFill>
                  <a:schemeClr val="bg2"/>
                </a:solidFill>
                <a:latin typeface="Times New Roman" panose="02020603050405020304" pitchFamily="18" charset="0"/>
                <a:cs typeface="Times New Roman" panose="02020603050405020304" pitchFamily="18" charset="0"/>
              </a:rPr>
              <a:t>Get all stakeholders to agree on the project’s goals and life-cycle.</a:t>
            </a:r>
          </a:p>
          <a:p>
            <a:r>
              <a:rPr lang="en-US" sz="2400" b="1" dirty="0">
                <a:solidFill>
                  <a:schemeClr val="bg2"/>
                </a:solidFill>
                <a:latin typeface="Times New Roman" panose="02020603050405020304" pitchFamily="18" charset="0"/>
                <a:cs typeface="Times New Roman" panose="02020603050405020304" pitchFamily="18" charset="0"/>
              </a:rPr>
              <a:t>🎯 Primary Objectives</a:t>
            </a:r>
          </a:p>
          <a:p>
            <a:r>
              <a:rPr lang="en-US" sz="2400" dirty="0">
                <a:solidFill>
                  <a:schemeClr val="bg2"/>
                </a:solidFill>
                <a:latin typeface="Times New Roman" panose="02020603050405020304" pitchFamily="18" charset="0"/>
                <a:cs typeface="Times New Roman" panose="02020603050405020304" pitchFamily="18" charset="0"/>
              </a:rPr>
              <a:t>Define what the software will and won’t include.</a:t>
            </a:r>
          </a:p>
          <a:p>
            <a:r>
              <a:rPr lang="en-US" sz="2400" dirty="0">
                <a:solidFill>
                  <a:schemeClr val="bg2"/>
                </a:solidFill>
                <a:latin typeface="Times New Roman" panose="02020603050405020304" pitchFamily="18" charset="0"/>
                <a:cs typeface="Times New Roman" panose="02020603050405020304" pitchFamily="18" charset="0"/>
              </a:rPr>
              <a:t>Identify key use cases and main operating scenarios.</a:t>
            </a:r>
          </a:p>
          <a:p>
            <a:r>
              <a:rPr lang="en-US" sz="2400" dirty="0">
                <a:solidFill>
                  <a:schemeClr val="bg2"/>
                </a:solidFill>
                <a:latin typeface="Times New Roman" panose="02020603050405020304" pitchFamily="18" charset="0"/>
                <a:cs typeface="Times New Roman" panose="02020603050405020304" pitchFamily="18" charset="0"/>
              </a:rPr>
              <a:t>Show one possible system design (architecture).</a:t>
            </a:r>
          </a:p>
          <a:p>
            <a:r>
              <a:rPr lang="en-US" sz="2400" dirty="0">
                <a:solidFill>
                  <a:schemeClr val="bg2"/>
                </a:solidFill>
                <a:latin typeface="Times New Roman" panose="02020603050405020304" pitchFamily="18" charset="0"/>
                <a:cs typeface="Times New Roman" panose="02020603050405020304" pitchFamily="18" charset="0"/>
              </a:rPr>
              <a:t>Estimate total cost and schedule.</a:t>
            </a:r>
          </a:p>
          <a:p>
            <a:r>
              <a:rPr lang="en-US" sz="2400" dirty="0">
                <a:solidFill>
                  <a:schemeClr val="bg2"/>
                </a:solidFill>
                <a:latin typeface="Times New Roman" panose="02020603050405020304" pitchFamily="18" charset="0"/>
                <a:cs typeface="Times New Roman" panose="02020603050405020304" pitchFamily="18" charset="0"/>
              </a:rPr>
              <a:t>Spot major risks early.</a:t>
            </a:r>
          </a:p>
          <a:p>
            <a:pPr marL="457200" indent="-457200">
              <a:buFont typeface="Wingdings" panose="05000000000000000000" pitchFamily="2" charset="2"/>
              <a:buChar char="v"/>
            </a:pPr>
            <a:r>
              <a:rPr lang="en-US" sz="2400" b="1" dirty="0">
                <a:solidFill>
                  <a:schemeClr val="bg2"/>
                </a:solidFill>
                <a:latin typeface="Times New Roman" panose="02020603050405020304" pitchFamily="18" charset="0"/>
                <a:cs typeface="Times New Roman" panose="02020603050405020304" pitchFamily="18" charset="0"/>
              </a:rPr>
              <a:t>Essential Activities</a:t>
            </a:r>
          </a:p>
          <a:p>
            <a:r>
              <a:rPr lang="en-US" sz="2400" b="1" dirty="0">
                <a:solidFill>
                  <a:schemeClr val="bg2"/>
                </a:solidFill>
                <a:latin typeface="Times New Roman" panose="02020603050405020304" pitchFamily="18" charset="0"/>
                <a:cs typeface="Times New Roman" panose="02020603050405020304" pitchFamily="18" charset="0"/>
              </a:rPr>
              <a:t>Define scope</a:t>
            </a:r>
            <a:r>
              <a:rPr lang="en-US" sz="2400" dirty="0">
                <a:solidFill>
                  <a:schemeClr val="bg2"/>
                </a:solidFill>
                <a:latin typeface="Times New Roman" panose="02020603050405020304" pitchFamily="18" charset="0"/>
                <a:cs typeface="Times New Roman" panose="02020603050405020304" pitchFamily="18" charset="0"/>
              </a:rPr>
              <a:t>: Gather user needs and acceptance criteria.</a:t>
            </a:r>
          </a:p>
          <a:p>
            <a:r>
              <a:rPr lang="en-US" sz="2400" b="1" dirty="0">
                <a:solidFill>
                  <a:schemeClr val="bg2"/>
                </a:solidFill>
                <a:latin typeface="Times New Roman" panose="02020603050405020304" pitchFamily="18" charset="0"/>
                <a:cs typeface="Times New Roman" panose="02020603050405020304" pitchFamily="18" charset="0"/>
              </a:rPr>
              <a:t>Design architecture</a:t>
            </a:r>
            <a:r>
              <a:rPr lang="en-US" sz="2400" dirty="0">
                <a:solidFill>
                  <a:schemeClr val="bg2"/>
                </a:solidFill>
                <a:latin typeface="Times New Roman" panose="02020603050405020304" pitchFamily="18" charset="0"/>
                <a:cs typeface="Times New Roman" panose="02020603050405020304" pitchFamily="18" charset="0"/>
              </a:rPr>
              <a:t>: Explore options and document one workable design.</a:t>
            </a:r>
          </a:p>
          <a:p>
            <a:r>
              <a:rPr lang="en-US" sz="2400" b="1" dirty="0">
                <a:solidFill>
                  <a:schemeClr val="bg2"/>
                </a:solidFill>
                <a:latin typeface="Times New Roman" panose="02020603050405020304" pitchFamily="18" charset="0"/>
                <a:cs typeface="Times New Roman" panose="02020603050405020304" pitchFamily="18" charset="0"/>
              </a:rPr>
              <a:t>Plan business case</a:t>
            </a:r>
            <a:r>
              <a:rPr lang="en-US" sz="2400" dirty="0">
                <a:solidFill>
                  <a:schemeClr val="bg2"/>
                </a:solidFill>
                <a:latin typeface="Times New Roman" panose="02020603050405020304" pitchFamily="18" charset="0"/>
                <a:cs typeface="Times New Roman" panose="02020603050405020304" pitchFamily="18" charset="0"/>
              </a:rPr>
              <a:t>: Evaluate risks, staffing, tools, and profitability.</a:t>
            </a:r>
          </a:p>
          <a:p>
            <a:pPr>
              <a:buNone/>
            </a:pPr>
            <a:r>
              <a:rPr lang="en-US" sz="2400" b="1" dirty="0">
                <a:solidFill>
                  <a:schemeClr val="bg2"/>
                </a:solidFill>
                <a:latin typeface="Times New Roman" panose="02020603050405020304" pitchFamily="18" charset="0"/>
                <a:cs typeface="Times New Roman" panose="02020603050405020304" pitchFamily="18" charset="0"/>
              </a:rPr>
              <a:t>Primary Evaluation Criteria</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Do all stakeholders agree on scope, cost, and schedule?</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Are key requirements clearly understood?</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Are estimates and plans realistic?</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Does the prototype show the team can solve the problem?</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Are actual costs close to planned costs?</a:t>
            </a:r>
          </a:p>
          <a:p>
            <a:endParaRPr lang="en-US" sz="2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9757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D2C7DE-19DA-5BDA-02CC-6C9CB4982491}"/>
              </a:ext>
            </a:extLst>
          </p:cNvPr>
          <p:cNvSpPr txBox="1"/>
          <p:nvPr/>
        </p:nvSpPr>
        <p:spPr>
          <a:xfrm>
            <a:off x="3053219" y="3108966"/>
            <a:ext cx="6106438" cy="646331"/>
          </a:xfrm>
          <a:prstGeom prst="rect">
            <a:avLst/>
          </a:prstGeom>
          <a:noFill/>
        </p:spPr>
        <p:txBody>
          <a:bodyPr wrap="square">
            <a:spAutoFit/>
          </a:bodyPr>
          <a:lstStyle/>
          <a:p>
            <a:r>
              <a:rPr lang="en-US" dirty="0"/>
              <a:t>Finalize architecture, requirements, and plans to decide whether to move into production.</a:t>
            </a:r>
            <a:endParaRPr lang="en-IN" dirty="0"/>
          </a:p>
        </p:txBody>
      </p:sp>
      <p:sp>
        <p:nvSpPr>
          <p:cNvPr id="9" name="TextBox 8">
            <a:extLst>
              <a:ext uri="{FF2B5EF4-FFF2-40B4-BE49-F238E27FC236}">
                <a16:creationId xmlns:a16="http://schemas.microsoft.com/office/drawing/2014/main" id="{BF1F7C32-DA45-C21A-FFDD-C5561538A739}"/>
              </a:ext>
            </a:extLst>
          </p:cNvPr>
          <p:cNvSpPr txBox="1"/>
          <p:nvPr/>
        </p:nvSpPr>
        <p:spPr>
          <a:xfrm>
            <a:off x="372649" y="154311"/>
            <a:ext cx="10211844" cy="8217634"/>
          </a:xfrm>
          <a:prstGeom prst="rect">
            <a:avLst/>
          </a:prstGeom>
          <a:noFill/>
        </p:spPr>
        <p:txBody>
          <a:bodyPr wrap="square">
            <a:spAutoFit/>
          </a:bodyPr>
          <a:lstStyle/>
          <a:p>
            <a:pPr>
              <a:buNone/>
            </a:pPr>
            <a:r>
              <a:rPr lang="en-US" sz="2400" b="1" dirty="0">
                <a:solidFill>
                  <a:srgbClr val="FF0000"/>
                </a:solidFill>
                <a:latin typeface="Times New Roman" panose="02020603050405020304" pitchFamily="18" charset="0"/>
                <a:cs typeface="Times New Roman" panose="02020603050405020304" pitchFamily="18" charset="0"/>
              </a:rPr>
              <a:t>Elaboration Phase – Main Goal:</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Finalize architecture, requirements, and plans to decide whether to move into production.</a:t>
            </a:r>
          </a:p>
          <a:p>
            <a:pPr marL="285750" indent="-285750">
              <a:buFont typeface="Wingdings" panose="05000000000000000000" pitchFamily="2" charset="2"/>
              <a:buChar char="v"/>
            </a:pPr>
            <a:r>
              <a:rPr lang="en-US" sz="2400" b="1" dirty="0">
                <a:solidFill>
                  <a:schemeClr val="bg2"/>
                </a:solidFill>
                <a:latin typeface="Times New Roman" panose="02020603050405020304" pitchFamily="18" charset="0"/>
                <a:cs typeface="Times New Roman" panose="02020603050405020304" pitchFamily="18" charset="0"/>
              </a:rPr>
              <a:t>Primary Objectives</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Lock down the architecture and vision.</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Create a detailed plan for the construction phase.</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Prove the architecture supports the project goals within time and budget.</a:t>
            </a:r>
            <a:endParaRPr lang="en-US" sz="2400" b="1"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400" b="1" dirty="0">
                <a:solidFill>
                  <a:schemeClr val="bg2"/>
                </a:solidFill>
                <a:latin typeface="Times New Roman" panose="02020603050405020304" pitchFamily="18" charset="0"/>
                <a:cs typeface="Times New Roman" panose="02020603050405020304" pitchFamily="18" charset="0"/>
              </a:rPr>
              <a:t>Essential Activities</a:t>
            </a:r>
          </a:p>
          <a:p>
            <a:r>
              <a:rPr lang="en-US" sz="2400" b="1" dirty="0">
                <a:solidFill>
                  <a:schemeClr val="bg2"/>
                </a:solidFill>
                <a:latin typeface="Times New Roman" panose="02020603050405020304" pitchFamily="18" charset="0"/>
                <a:cs typeface="Times New Roman" panose="02020603050405020304" pitchFamily="18" charset="0"/>
              </a:rPr>
              <a:t>Refine the vision</a:t>
            </a:r>
            <a:r>
              <a:rPr lang="en-US" sz="2400" dirty="0">
                <a:solidFill>
                  <a:schemeClr val="bg2"/>
                </a:solidFill>
                <a:latin typeface="Times New Roman" panose="02020603050405020304" pitchFamily="18" charset="0"/>
                <a:cs typeface="Times New Roman" panose="02020603050405020304" pitchFamily="18" charset="0"/>
              </a:rPr>
              <a:t>: Deepen understanding of key use cases that affect design and planning.</a:t>
            </a:r>
          </a:p>
          <a:p>
            <a:r>
              <a:rPr lang="en-US" sz="2400" b="1" dirty="0">
                <a:solidFill>
                  <a:schemeClr val="bg2"/>
                </a:solidFill>
                <a:latin typeface="Times New Roman" panose="02020603050405020304" pitchFamily="18" charset="0"/>
                <a:cs typeface="Times New Roman" panose="02020603050405020304" pitchFamily="18" charset="0"/>
              </a:rPr>
              <a:t>Set up process and tools</a:t>
            </a:r>
            <a:r>
              <a:rPr lang="en-US" sz="2400" dirty="0">
                <a:solidFill>
                  <a:schemeClr val="bg2"/>
                </a:solidFill>
                <a:latin typeface="Times New Roman" panose="02020603050405020304" pitchFamily="18" charset="0"/>
                <a:cs typeface="Times New Roman" panose="02020603050405020304" pitchFamily="18" charset="0"/>
              </a:rPr>
              <a:t>: Define construction methods, automation, and milestones.</a:t>
            </a:r>
          </a:p>
          <a:p>
            <a:r>
              <a:rPr lang="en-US" sz="2400" b="1" dirty="0">
                <a:solidFill>
                  <a:schemeClr val="bg2"/>
                </a:solidFill>
                <a:latin typeface="Times New Roman" panose="02020603050405020304" pitchFamily="18" charset="0"/>
                <a:cs typeface="Times New Roman" panose="02020603050405020304" pitchFamily="18" charset="0"/>
              </a:rPr>
              <a:t>Select and test components</a:t>
            </a:r>
            <a:r>
              <a:rPr lang="en-US" sz="2400" dirty="0">
                <a:solidFill>
                  <a:schemeClr val="bg2"/>
                </a:solidFill>
                <a:latin typeface="Times New Roman" panose="02020603050405020304" pitchFamily="18" charset="0"/>
                <a:cs typeface="Times New Roman" panose="02020603050405020304" pitchFamily="18" charset="0"/>
              </a:rPr>
              <a:t>: Evaluate options, make buy/build decisions, and test architecture against main scenarios.</a:t>
            </a:r>
          </a:p>
          <a:p>
            <a:pPr>
              <a:buNone/>
            </a:pPr>
            <a:r>
              <a:rPr lang="en-US" sz="2400" b="1" dirty="0">
                <a:solidFill>
                  <a:schemeClr val="bg2"/>
                </a:solidFill>
                <a:latin typeface="Times New Roman" panose="02020603050405020304" pitchFamily="18" charset="0"/>
                <a:cs typeface="Times New Roman" panose="02020603050405020304" pitchFamily="18" charset="0"/>
              </a:rPr>
              <a:t>Primary Evaluation Criteria</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Is the vision and architecture stable?</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Does the prototype show major risks are resolved?</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Is the construction plan detailed and realistic?</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Do stakeholders agree the system can be built as planned?</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Are actual costs close to planned costs?</a:t>
            </a:r>
          </a:p>
          <a:p>
            <a:endParaRPr lang="en-US" sz="2400" dirty="0">
              <a:solidFill>
                <a:schemeClr val="bg2"/>
              </a:solidFill>
              <a:latin typeface="Times New Roman" panose="02020603050405020304" pitchFamily="18" charset="0"/>
              <a:cs typeface="Times New Roman" panose="02020603050405020304" pitchFamily="18" charset="0"/>
            </a:endParaRPr>
          </a:p>
          <a:p>
            <a:endParaRPr lang="en-US" sz="2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118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A38427-E7DD-D2E9-E8A5-E564CA4C52CF}"/>
              </a:ext>
            </a:extLst>
          </p:cNvPr>
          <p:cNvSpPr txBox="1"/>
          <p:nvPr/>
        </p:nvSpPr>
        <p:spPr>
          <a:xfrm>
            <a:off x="247388" y="318204"/>
            <a:ext cx="10913301" cy="6986528"/>
          </a:xfrm>
          <a:prstGeom prst="rect">
            <a:avLst/>
          </a:prstGeom>
          <a:noFill/>
        </p:spPr>
        <p:txBody>
          <a:bodyPr wrap="square">
            <a:spAutoFit/>
          </a:bodyPr>
          <a:lstStyle/>
          <a:p>
            <a:pPr>
              <a:buNone/>
            </a:pPr>
            <a:r>
              <a:rPr lang="en-US" sz="2400" b="1" dirty="0">
                <a:solidFill>
                  <a:schemeClr val="bg2"/>
                </a:solidFill>
                <a:latin typeface="Times New Roman" panose="02020603050405020304" pitchFamily="18" charset="0"/>
                <a:cs typeface="Times New Roman" panose="02020603050405020304" pitchFamily="18" charset="0"/>
              </a:rPr>
              <a:t>Construction Phase – Main Goal</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Build and test all components to create a working, deployable product.</a:t>
            </a:r>
          </a:p>
          <a:p>
            <a:pPr marL="285750" indent="-285750">
              <a:buFont typeface="Wingdings" panose="05000000000000000000" pitchFamily="2" charset="2"/>
              <a:buChar char="v"/>
            </a:pPr>
            <a:r>
              <a:rPr lang="en-US" sz="2400" b="1" dirty="0">
                <a:solidFill>
                  <a:schemeClr val="bg2"/>
                </a:solidFill>
                <a:latin typeface="Times New Roman" panose="02020603050405020304" pitchFamily="18" charset="0"/>
                <a:cs typeface="Times New Roman" panose="02020603050405020304" pitchFamily="18" charset="0"/>
              </a:rPr>
              <a:t> Primary Objectives</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Reduce development costs by using resources efficiently.</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Achieve good quality quickly.</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Deliver usable versions (alpha, beta, test releases) as soon as possible.</a:t>
            </a:r>
          </a:p>
          <a:p>
            <a:pPr marL="285750" indent="-285750">
              <a:buFont typeface="Wingdings" panose="05000000000000000000" pitchFamily="2" charset="2"/>
              <a:buChar char="v"/>
            </a:pPr>
            <a:r>
              <a:rPr lang="en-US" sz="2400" b="1" dirty="0">
                <a:solidFill>
                  <a:schemeClr val="bg2"/>
                </a:solidFill>
                <a:latin typeface="Times New Roman" panose="02020603050405020304" pitchFamily="18" charset="0"/>
                <a:cs typeface="Times New Roman" panose="02020603050405020304" pitchFamily="18" charset="0"/>
              </a:rPr>
              <a:t> Essential Activities</a:t>
            </a:r>
          </a:p>
          <a:p>
            <a:pPr>
              <a:buFont typeface="Arial" panose="020B0604020202020204" pitchFamily="34" charset="0"/>
              <a:buChar char="•"/>
            </a:pPr>
            <a:r>
              <a:rPr lang="en-US" sz="2400" b="1" dirty="0">
                <a:solidFill>
                  <a:schemeClr val="bg2"/>
                </a:solidFill>
                <a:latin typeface="Times New Roman" panose="02020603050405020304" pitchFamily="18" charset="0"/>
                <a:cs typeface="Times New Roman" panose="02020603050405020304" pitchFamily="18" charset="0"/>
              </a:rPr>
              <a:t>Manage resources and processes</a:t>
            </a:r>
            <a:r>
              <a:rPr lang="en-US" sz="2400" dirty="0">
                <a:solidFill>
                  <a:schemeClr val="bg2"/>
                </a:solidFill>
                <a:latin typeface="Times New Roman" panose="02020603050405020304" pitchFamily="18" charset="0"/>
                <a:cs typeface="Times New Roman" panose="02020603050405020304" pitchFamily="18" charset="0"/>
              </a:rPr>
              <a:t>: Control operations to stay on track with cost and schedule.</a:t>
            </a:r>
          </a:p>
          <a:p>
            <a:pPr>
              <a:buFont typeface="Arial" panose="020B0604020202020204" pitchFamily="34" charset="0"/>
              <a:buChar char="•"/>
            </a:pPr>
            <a:r>
              <a:rPr lang="en-US" sz="2400" b="1" dirty="0">
                <a:solidFill>
                  <a:schemeClr val="bg2"/>
                </a:solidFill>
                <a:latin typeface="Times New Roman" panose="02020603050405020304" pitchFamily="18" charset="0"/>
                <a:cs typeface="Times New Roman" panose="02020603050405020304" pitchFamily="18" charset="0"/>
              </a:rPr>
              <a:t>Develop and test components</a:t>
            </a:r>
            <a:r>
              <a:rPr lang="en-US" sz="2400" dirty="0">
                <a:solidFill>
                  <a:schemeClr val="bg2"/>
                </a:solidFill>
                <a:latin typeface="Times New Roman" panose="02020603050405020304" pitchFamily="18" charset="0"/>
                <a:cs typeface="Times New Roman" panose="02020603050405020304" pitchFamily="18" charset="0"/>
              </a:rPr>
              <a:t>: Ensure all parts meet evaluation standards.</a:t>
            </a:r>
          </a:p>
          <a:p>
            <a:pPr>
              <a:buFont typeface="Arial" panose="020B0604020202020204" pitchFamily="34" charset="0"/>
              <a:buChar char="•"/>
            </a:pPr>
            <a:r>
              <a:rPr lang="en-US" sz="2400" b="1" dirty="0">
                <a:solidFill>
                  <a:schemeClr val="bg2"/>
                </a:solidFill>
                <a:latin typeface="Times New Roman" panose="02020603050405020304" pitchFamily="18" charset="0"/>
                <a:cs typeface="Times New Roman" panose="02020603050405020304" pitchFamily="18" charset="0"/>
              </a:rPr>
              <a:t>Review product releases</a:t>
            </a:r>
            <a:r>
              <a:rPr lang="en-US" sz="2400" dirty="0">
                <a:solidFill>
                  <a:schemeClr val="bg2"/>
                </a:solidFill>
                <a:latin typeface="Times New Roman" panose="02020603050405020304" pitchFamily="18" charset="0"/>
                <a:cs typeface="Times New Roman" panose="02020603050405020304" pitchFamily="18" charset="0"/>
              </a:rPr>
              <a:t>: Check if they meet the original vision and acceptance criteria.</a:t>
            </a:r>
          </a:p>
          <a:p>
            <a:pPr>
              <a:buNone/>
            </a:pPr>
            <a:r>
              <a:rPr lang="en-US" sz="2400" b="1" dirty="0">
                <a:solidFill>
                  <a:schemeClr val="bg2"/>
                </a:solidFill>
              </a:rPr>
              <a:t> Primary Evaluation Criteria</a:t>
            </a:r>
          </a:p>
          <a:p>
            <a:pPr>
              <a:buFont typeface="Arial" panose="020B0604020202020204" pitchFamily="34" charset="0"/>
              <a:buChar char="•"/>
            </a:pPr>
            <a:r>
              <a:rPr lang="en-US" sz="2400" dirty="0">
                <a:solidFill>
                  <a:schemeClr val="bg2"/>
                </a:solidFill>
              </a:rPr>
              <a:t> Is the product ready and stable enough for users?</a:t>
            </a:r>
          </a:p>
          <a:p>
            <a:pPr>
              <a:buFont typeface="Arial" panose="020B0604020202020204" pitchFamily="34" charset="0"/>
              <a:buChar char="•"/>
            </a:pPr>
            <a:r>
              <a:rPr lang="en-US" sz="2400" dirty="0">
                <a:solidFill>
                  <a:schemeClr val="bg2"/>
                </a:solidFill>
              </a:rPr>
              <a:t> Are stakeholders prepared for deployment?</a:t>
            </a:r>
          </a:p>
          <a:p>
            <a:pPr>
              <a:buFont typeface="Arial" panose="020B0604020202020204" pitchFamily="34" charset="0"/>
              <a:buChar char="•"/>
            </a:pPr>
            <a:r>
              <a:rPr lang="en-US" sz="2400" dirty="0">
                <a:solidFill>
                  <a:schemeClr val="bg2"/>
                </a:solidFill>
              </a:rPr>
              <a:t> Are actual costs close to planned costs?</a:t>
            </a:r>
          </a:p>
          <a:p>
            <a:endParaRPr lang="en-US" sz="2400" dirty="0">
              <a:solidFill>
                <a:schemeClr val="bg2"/>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2773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4B39F6-F9B9-B9C8-2FDC-E3E22EDFA4B0}"/>
              </a:ext>
            </a:extLst>
          </p:cNvPr>
          <p:cNvSpPr txBox="1"/>
          <p:nvPr/>
        </p:nvSpPr>
        <p:spPr>
          <a:xfrm>
            <a:off x="152400" y="101600"/>
            <a:ext cx="10642600" cy="7340471"/>
          </a:xfrm>
          <a:prstGeom prst="rect">
            <a:avLst/>
          </a:prstGeom>
          <a:noFill/>
        </p:spPr>
        <p:txBody>
          <a:bodyPr wrap="square" rtlCol="0">
            <a:spAutoFit/>
          </a:bodyPr>
          <a:lstStyle/>
          <a:p>
            <a:pPr marL="342900" indent="-342900">
              <a:buFont typeface="Wingdings" panose="05000000000000000000" pitchFamily="2" charset="2"/>
              <a:buChar char="q"/>
            </a:pPr>
            <a:r>
              <a:rPr lang="en-US" sz="2500" b="1" dirty="0">
                <a:solidFill>
                  <a:schemeClr val="bg2"/>
                </a:solidFill>
                <a:latin typeface="Times New Roman" panose="02020603050405020304" pitchFamily="18" charset="0"/>
                <a:cs typeface="Times New Roman" panose="02020603050405020304" pitchFamily="18" charset="0"/>
              </a:rPr>
              <a:t> Transition Phase – Main Goal</a:t>
            </a:r>
          </a:p>
          <a:p>
            <a:r>
              <a:rPr lang="en-US" sz="2500" dirty="0">
                <a:solidFill>
                  <a:schemeClr val="bg2"/>
                </a:solidFill>
                <a:latin typeface="Times New Roman" panose="02020603050405020304" pitchFamily="18" charset="0"/>
                <a:cs typeface="Times New Roman" panose="02020603050405020304" pitchFamily="18" charset="0"/>
              </a:rPr>
              <a:t>Deliver the product to users and ensure it meets expectations with proper support and documentation.</a:t>
            </a:r>
          </a:p>
          <a:p>
            <a:pPr marL="342900" indent="-342900">
              <a:buFont typeface="Arial" panose="020B0604020202020204" pitchFamily="34" charset="0"/>
              <a:buChar char="•"/>
            </a:pPr>
            <a:r>
              <a:rPr lang="en-US" sz="2500" b="1" dirty="0">
                <a:solidFill>
                  <a:srgbClr val="00B0F0"/>
                </a:solidFill>
                <a:latin typeface="Times New Roman" panose="02020603050405020304" pitchFamily="18" charset="0"/>
                <a:cs typeface="Times New Roman" panose="02020603050405020304" pitchFamily="18" charset="0"/>
              </a:rPr>
              <a:t>Primary Objectives:</a:t>
            </a:r>
          </a:p>
          <a:p>
            <a:r>
              <a:rPr lang="en-US" sz="2500" dirty="0">
                <a:solidFill>
                  <a:schemeClr val="bg2"/>
                </a:solidFill>
                <a:latin typeface="Times New Roman" panose="02020603050405020304" pitchFamily="18" charset="0"/>
                <a:cs typeface="Times New Roman" panose="02020603050405020304" pitchFamily="18" charset="0"/>
              </a:rPr>
              <a:t>Help users become self-sufficient with the product.</a:t>
            </a:r>
          </a:p>
          <a:p>
            <a:r>
              <a:rPr lang="en-US" sz="2500" dirty="0">
                <a:solidFill>
                  <a:schemeClr val="bg2"/>
                </a:solidFill>
                <a:latin typeface="Times New Roman" panose="02020603050405020304" pitchFamily="18" charset="0"/>
                <a:cs typeface="Times New Roman" panose="02020603050405020304" pitchFamily="18" charset="0"/>
              </a:rPr>
              <a:t>Confirm that the product meets the original vision and evaluation criteria.</a:t>
            </a:r>
          </a:p>
          <a:p>
            <a:r>
              <a:rPr lang="en-US" sz="2500" dirty="0">
                <a:solidFill>
                  <a:schemeClr val="bg2"/>
                </a:solidFill>
                <a:latin typeface="Times New Roman" panose="02020603050405020304" pitchFamily="18" charset="0"/>
                <a:cs typeface="Times New Roman" panose="02020603050405020304" pitchFamily="18" charset="0"/>
              </a:rPr>
              <a:t>Finalize the product quickly and cost-effectively.</a:t>
            </a:r>
          </a:p>
          <a:p>
            <a:pPr marL="342900" indent="-342900">
              <a:buFont typeface="Arial" panose="020B0604020202020204" pitchFamily="34" charset="0"/>
              <a:buChar char="•"/>
            </a:pPr>
            <a:r>
              <a:rPr lang="en-US" sz="2500" b="1" dirty="0">
                <a:solidFill>
                  <a:srgbClr val="FF0000"/>
                </a:solidFill>
                <a:latin typeface="Times New Roman" panose="02020603050405020304" pitchFamily="18" charset="0"/>
                <a:cs typeface="Times New Roman" panose="02020603050405020304" pitchFamily="18" charset="0"/>
              </a:rPr>
              <a:t>Essential Activities:</a:t>
            </a:r>
          </a:p>
          <a:p>
            <a:r>
              <a:rPr lang="en-US" sz="2500" b="1" dirty="0">
                <a:solidFill>
                  <a:schemeClr val="bg2"/>
                </a:solidFill>
                <a:latin typeface="Times New Roman" panose="02020603050405020304" pitchFamily="18" charset="0"/>
                <a:cs typeface="Times New Roman" panose="02020603050405020304" pitchFamily="18" charset="0"/>
              </a:rPr>
              <a:t>Integrate and synchronize releases</a:t>
            </a:r>
            <a:r>
              <a:rPr lang="en-US" sz="2500" dirty="0">
                <a:solidFill>
                  <a:schemeClr val="bg2"/>
                </a:solidFill>
                <a:latin typeface="Times New Roman" panose="02020603050405020304" pitchFamily="18" charset="0"/>
                <a:cs typeface="Times New Roman" panose="02020603050405020304" pitchFamily="18" charset="0"/>
              </a:rPr>
              <a:t>: Combine all parts into a stable version for deployment.</a:t>
            </a:r>
          </a:p>
          <a:p>
            <a:r>
              <a:rPr lang="en-US" sz="2500" b="1" dirty="0">
                <a:solidFill>
                  <a:schemeClr val="bg2"/>
                </a:solidFill>
                <a:latin typeface="Times New Roman" panose="02020603050405020304" pitchFamily="18" charset="0"/>
                <a:cs typeface="Times New Roman" panose="02020603050405020304" pitchFamily="18" charset="0"/>
              </a:rPr>
              <a:t>Prepare for deployment</a:t>
            </a:r>
            <a:r>
              <a:rPr lang="en-US" sz="2500" dirty="0">
                <a:solidFill>
                  <a:schemeClr val="bg2"/>
                </a:solidFill>
                <a:latin typeface="Times New Roman" panose="02020603050405020304" pitchFamily="18" charset="0"/>
                <a:cs typeface="Times New Roman" panose="02020603050405020304" pitchFamily="18" charset="0"/>
              </a:rPr>
              <a:t>: Handle packaging, training, and rollout planning.</a:t>
            </a:r>
          </a:p>
          <a:p>
            <a:r>
              <a:rPr lang="en-US" sz="2500" b="1" dirty="0">
                <a:solidFill>
                  <a:schemeClr val="bg2"/>
                </a:solidFill>
                <a:latin typeface="Times New Roman" panose="02020603050405020304" pitchFamily="18" charset="0"/>
                <a:cs typeface="Times New Roman" panose="02020603050405020304" pitchFamily="18" charset="0"/>
              </a:rPr>
              <a:t>Evaluate against vision</a:t>
            </a:r>
            <a:r>
              <a:rPr lang="en-US" sz="2500" dirty="0">
                <a:solidFill>
                  <a:schemeClr val="bg2"/>
                </a:solidFill>
                <a:latin typeface="Times New Roman" panose="02020603050405020304" pitchFamily="18" charset="0"/>
                <a:cs typeface="Times New Roman" panose="02020603050405020304" pitchFamily="18" charset="0"/>
              </a:rPr>
              <a:t>: Ensure the final product matches the original goals and requirements.</a:t>
            </a:r>
          </a:p>
          <a:p>
            <a:pPr marL="342900" indent="-342900">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Primary Evaluation Criteria:</a:t>
            </a:r>
          </a:p>
          <a:p>
            <a:r>
              <a:rPr lang="en-US" sz="2400" dirty="0">
                <a:solidFill>
                  <a:schemeClr val="bg2"/>
                </a:solidFill>
                <a:latin typeface="Times New Roman" panose="02020603050405020304" pitchFamily="18" charset="0"/>
                <a:cs typeface="Times New Roman" panose="02020603050405020304" pitchFamily="18" charset="0"/>
              </a:rPr>
              <a:t>Can users operate the system independently?</a:t>
            </a:r>
          </a:p>
          <a:p>
            <a:r>
              <a:rPr lang="en-US" sz="2400" dirty="0">
                <a:solidFill>
                  <a:schemeClr val="bg2"/>
                </a:solidFill>
                <a:latin typeface="Times New Roman" panose="02020603050405020304" pitchFamily="18" charset="0"/>
                <a:cs typeface="Times New Roman" panose="02020603050405020304" pitchFamily="18" charset="0"/>
              </a:rPr>
              <a:t>Are actual costs close to planned costs?</a:t>
            </a:r>
          </a:p>
          <a:p>
            <a:endParaRPr lang="en-IN" sz="2400" dirty="0">
              <a:solidFill>
                <a:schemeClr val="bg2"/>
              </a:solidFill>
              <a:latin typeface="Times New Roman" panose="02020603050405020304" pitchFamily="18" charset="0"/>
              <a:cs typeface="Times New Roman" panose="02020603050405020304" pitchFamily="18" charset="0"/>
            </a:endParaRPr>
          </a:p>
          <a:p>
            <a:endParaRPr lang="en-US" sz="2500" dirty="0">
              <a:solidFill>
                <a:schemeClr val="bg2"/>
              </a:solidFill>
              <a:latin typeface="Times New Roman" panose="02020603050405020304" pitchFamily="18" charset="0"/>
              <a:cs typeface="Times New Roman" panose="02020603050405020304" pitchFamily="18" charset="0"/>
            </a:endParaRPr>
          </a:p>
          <a:p>
            <a:endParaRPr lang="en-IN" sz="25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4716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C622AD-160A-49E5-B14E-35EB0711A561}"/>
              </a:ext>
            </a:extLst>
          </p:cNvPr>
          <p:cNvSpPr txBox="1"/>
          <p:nvPr/>
        </p:nvSpPr>
        <p:spPr>
          <a:xfrm>
            <a:off x="180975" y="209034"/>
            <a:ext cx="6102350" cy="523220"/>
          </a:xfrm>
          <a:prstGeom prst="rect">
            <a:avLst/>
          </a:prstGeom>
          <a:noFill/>
        </p:spPr>
        <p:txBody>
          <a:bodyPr wrap="square">
            <a:spAutoFit/>
          </a:bodyPr>
          <a:lstStyle/>
          <a:p>
            <a:pPr marL="342900" indent="-342900">
              <a:buFont typeface="Wingdings" panose="05000000000000000000" pitchFamily="2" charset="2"/>
              <a:buChar char="q"/>
            </a:pPr>
            <a:r>
              <a:rPr lang="en-US" sz="2800" b="1" kern="0" dirty="0">
                <a:solidFill>
                  <a:srgbClr val="000000"/>
                </a:solidFill>
                <a:latin typeface="Times New Roman" panose="02020603050405020304" pitchFamily="18" charset="0"/>
                <a:cs typeface="Times New Roman" panose="02020603050405020304" pitchFamily="18" charset="0"/>
                <a:sym typeface="Arial"/>
              </a:rPr>
              <a:t>Their artifacts:</a:t>
            </a:r>
            <a:endParaRPr lang="en-IN" sz="2800" b="1" dirty="0"/>
          </a:p>
        </p:txBody>
      </p:sp>
      <p:sp>
        <p:nvSpPr>
          <p:cNvPr id="10" name="TextBox 9">
            <a:extLst>
              <a:ext uri="{FF2B5EF4-FFF2-40B4-BE49-F238E27FC236}">
                <a16:creationId xmlns:a16="http://schemas.microsoft.com/office/drawing/2014/main" id="{62DC9BB5-0476-6788-7B94-B4893E32162F}"/>
              </a:ext>
            </a:extLst>
          </p:cNvPr>
          <p:cNvSpPr txBox="1"/>
          <p:nvPr/>
        </p:nvSpPr>
        <p:spPr>
          <a:xfrm>
            <a:off x="180975" y="732254"/>
            <a:ext cx="10766425" cy="3046988"/>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2400" b="1" dirty="0">
                <a:solidFill>
                  <a:schemeClr val="tx2">
                    <a:lumMod val="10000"/>
                  </a:schemeClr>
                </a:solidFill>
                <a:latin typeface="Times New Roman" panose="02020603050405020304" pitchFamily="18" charset="0"/>
                <a:cs typeface="Times New Roman" panose="02020603050405020304" pitchFamily="18" charset="0"/>
              </a:rPr>
              <a:t> Artifact sets</a:t>
            </a:r>
            <a:r>
              <a:rPr lang="en-US" altLang="en-US" sz="2400" dirty="0">
                <a:solidFill>
                  <a:schemeClr val="tx2">
                    <a:lumMod val="10000"/>
                  </a:schemeClr>
                </a:solidFill>
                <a:latin typeface="Times New Roman" panose="02020603050405020304" pitchFamily="18" charset="0"/>
                <a:cs typeface="Times New Roman" panose="02020603050405020304" pitchFamily="18" charset="0"/>
              </a:rPr>
              <a:t> organize all the important information needed to build a complete software system.</a:t>
            </a:r>
          </a:p>
          <a:p>
            <a:pPr lvl="0" defTabSz="914400" eaLnBrk="0" fontAlgn="base" hangingPunct="0">
              <a:spcBef>
                <a:spcPct val="0"/>
              </a:spcBef>
              <a:spcAft>
                <a:spcPct val="0"/>
              </a:spcAft>
              <a:buFontTx/>
              <a:buChar char="•"/>
            </a:pPr>
            <a:r>
              <a:rPr lang="en-US" altLang="en-US" sz="2400" dirty="0">
                <a:solidFill>
                  <a:schemeClr val="tx2">
                    <a:lumMod val="10000"/>
                  </a:schemeClr>
                </a:solidFill>
                <a:latin typeface="Times New Roman" panose="02020603050405020304" pitchFamily="18" charset="0"/>
                <a:cs typeface="Times New Roman" panose="02020603050405020304" pitchFamily="18" charset="0"/>
              </a:rPr>
              <a:t> Each set contains related documents or files in a consistent format (like text, code, templates, spreadsheets, or UML diagrams).</a:t>
            </a:r>
          </a:p>
          <a:p>
            <a:r>
              <a:rPr lang="en-US" sz="2400" b="1" dirty="0">
                <a:solidFill>
                  <a:schemeClr val="tx2">
                    <a:lumMod val="10000"/>
                  </a:schemeClr>
                </a:solidFill>
                <a:latin typeface="Times New Roman" panose="02020603050405020304" pitchFamily="18" charset="0"/>
                <a:cs typeface="Times New Roman" panose="02020603050405020304" pitchFamily="18" charset="0"/>
              </a:rPr>
              <a:t>Artifact vs. Artifact Set</a:t>
            </a:r>
          </a:p>
          <a:p>
            <a:r>
              <a:rPr lang="en-US" sz="2400" dirty="0">
                <a:solidFill>
                  <a:schemeClr val="tx2">
                    <a:lumMod val="10000"/>
                  </a:schemeClr>
                </a:solidFill>
                <a:latin typeface="Times New Roman" panose="02020603050405020304" pitchFamily="18" charset="0"/>
                <a:cs typeface="Times New Roman" panose="02020603050405020304" pitchFamily="18" charset="0"/>
              </a:rPr>
              <a:t>An </a:t>
            </a:r>
            <a:r>
              <a:rPr lang="en-US" sz="2400" b="1" dirty="0">
                <a:solidFill>
                  <a:schemeClr val="tx2">
                    <a:lumMod val="10000"/>
                  </a:schemeClr>
                </a:solidFill>
                <a:latin typeface="Times New Roman" panose="02020603050405020304" pitchFamily="18" charset="0"/>
                <a:cs typeface="Times New Roman" panose="02020603050405020304" pitchFamily="18" charset="0"/>
              </a:rPr>
              <a:t>artifact</a:t>
            </a:r>
            <a:r>
              <a:rPr lang="en-US" sz="2400" dirty="0">
                <a:solidFill>
                  <a:schemeClr val="tx2">
                    <a:lumMod val="10000"/>
                  </a:schemeClr>
                </a:solidFill>
                <a:latin typeface="Times New Roman" panose="02020603050405020304" pitchFamily="18" charset="0"/>
                <a:cs typeface="Times New Roman" panose="02020603050405020304" pitchFamily="18" charset="0"/>
              </a:rPr>
              <a:t> is a single piece of information (e.g., a document or diagram).</a:t>
            </a:r>
          </a:p>
          <a:p>
            <a:r>
              <a:rPr lang="en-US" sz="2400" dirty="0">
                <a:solidFill>
                  <a:schemeClr val="tx2">
                    <a:lumMod val="10000"/>
                  </a:schemeClr>
                </a:solidFill>
                <a:latin typeface="Times New Roman" panose="02020603050405020304" pitchFamily="18" charset="0"/>
                <a:cs typeface="Times New Roman" panose="02020603050405020304" pitchFamily="18" charset="0"/>
              </a:rPr>
              <a:t>A </a:t>
            </a:r>
            <a:r>
              <a:rPr lang="en-US" sz="2400" b="1" dirty="0">
                <a:solidFill>
                  <a:schemeClr val="tx2">
                    <a:lumMod val="10000"/>
                  </a:schemeClr>
                </a:solidFill>
                <a:latin typeface="Times New Roman" panose="02020603050405020304" pitchFamily="18" charset="0"/>
                <a:cs typeface="Times New Roman" panose="02020603050405020304" pitchFamily="18" charset="0"/>
              </a:rPr>
              <a:t>set</a:t>
            </a:r>
            <a:r>
              <a:rPr lang="en-US" sz="2400" dirty="0">
                <a:solidFill>
                  <a:schemeClr val="tx2">
                    <a:lumMod val="10000"/>
                  </a:schemeClr>
                </a:solidFill>
                <a:latin typeface="Times New Roman" panose="02020603050405020304" pitchFamily="18" charset="0"/>
                <a:cs typeface="Times New Roman" panose="02020603050405020304" pitchFamily="18" charset="0"/>
              </a:rPr>
              <a:t> is a group of related artifacts that together describe one aspect of the system.</a:t>
            </a:r>
          </a:p>
          <a:p>
            <a:endParaRPr lang="en-IN" sz="2400" dirty="0">
              <a:solidFill>
                <a:schemeClr val="tx2">
                  <a:lumMod val="10000"/>
                </a:schemeClr>
              </a:solidFill>
              <a:latin typeface="Times New Roman" panose="02020603050405020304" pitchFamily="18" charset="0"/>
              <a:cs typeface="Times New Roman" panose="02020603050405020304" pitchFamily="18" charset="0"/>
            </a:endParaRPr>
          </a:p>
        </p:txBody>
      </p:sp>
      <p:graphicFrame>
        <p:nvGraphicFramePr>
          <p:cNvPr id="14" name="Content Placeholder 3">
            <a:extLst>
              <a:ext uri="{FF2B5EF4-FFF2-40B4-BE49-F238E27FC236}">
                <a16:creationId xmlns:a16="http://schemas.microsoft.com/office/drawing/2014/main" id="{348D411B-2D95-E1C8-5F71-46677982161C}"/>
              </a:ext>
            </a:extLst>
          </p:cNvPr>
          <p:cNvGraphicFramePr>
            <a:graphicFrameLocks noGrp="1"/>
          </p:cNvGraphicFramePr>
          <p:nvPr>
            <p:ph idx="1"/>
            <p:extLst>
              <p:ext uri="{D42A27DB-BD31-4B8C-83A1-F6EECF244321}">
                <p14:modId xmlns:p14="http://schemas.microsoft.com/office/powerpoint/2010/main" val="350181135"/>
              </p:ext>
            </p:extLst>
          </p:nvPr>
        </p:nvGraphicFramePr>
        <p:xfrm>
          <a:off x="736600" y="3429000"/>
          <a:ext cx="9958388" cy="3194408"/>
        </p:xfrm>
        <a:graphic>
          <a:graphicData uri="http://schemas.openxmlformats.org/drawingml/2006/table">
            <a:tbl>
              <a:tblPr>
                <a:tableStyleId>{5DA37D80-6434-44D0-A028-1B22A696006F}</a:tableStyleId>
              </a:tblPr>
              <a:tblGrid>
                <a:gridCol w="2489200">
                  <a:extLst>
                    <a:ext uri="{9D8B030D-6E8A-4147-A177-3AD203B41FA5}">
                      <a16:colId xmlns:a16="http://schemas.microsoft.com/office/drawing/2014/main" val="3209293591"/>
                    </a:ext>
                  </a:extLst>
                </a:gridCol>
                <a:gridCol w="7469188">
                  <a:extLst>
                    <a:ext uri="{9D8B030D-6E8A-4147-A177-3AD203B41FA5}">
                      <a16:colId xmlns:a16="http://schemas.microsoft.com/office/drawing/2014/main" val="334058573"/>
                    </a:ext>
                  </a:extLst>
                </a:gridCol>
              </a:tblGrid>
              <a:tr h="299590">
                <a:tc>
                  <a:txBody>
                    <a:bodyPr/>
                    <a:lstStyle/>
                    <a:p>
                      <a:pPr>
                        <a:buNone/>
                      </a:pPr>
                      <a:r>
                        <a:rPr lang="en-IN" sz="2000" b="1">
                          <a:solidFill>
                            <a:schemeClr val="tx2">
                              <a:lumMod val="10000"/>
                            </a:schemeClr>
                          </a:solidFill>
                          <a:latin typeface="Times New Roman" panose="02020603050405020304" pitchFamily="18" charset="0"/>
                          <a:cs typeface="Times New Roman" panose="02020603050405020304" pitchFamily="18" charset="0"/>
                        </a:rPr>
                        <a:t>Artifact Set</a:t>
                      </a:r>
                    </a:p>
                  </a:txBody>
                  <a:tcPr anchor="ctr"/>
                </a:tc>
                <a:tc>
                  <a:txBody>
                    <a:bodyPr/>
                    <a:lstStyle/>
                    <a:p>
                      <a:pPr>
                        <a:buNone/>
                      </a:pPr>
                      <a:r>
                        <a:rPr lang="en-IN" sz="2000" b="1" dirty="0">
                          <a:solidFill>
                            <a:schemeClr val="tx2">
                              <a:lumMod val="10000"/>
                            </a:schemeClr>
                          </a:solidFill>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2392944778"/>
                  </a:ext>
                </a:extLst>
              </a:tr>
              <a:tr h="524282">
                <a:tc>
                  <a:txBody>
                    <a:bodyPr/>
                    <a:lstStyle/>
                    <a:p>
                      <a:pPr>
                        <a:buNone/>
                      </a:pPr>
                      <a:r>
                        <a:rPr lang="en-IN" sz="2000" b="1" dirty="0">
                          <a:solidFill>
                            <a:schemeClr val="tx2">
                              <a:lumMod val="10000"/>
                            </a:schemeClr>
                          </a:solidFill>
                          <a:latin typeface="Times New Roman" panose="02020603050405020304" pitchFamily="18" charset="0"/>
                          <a:cs typeface="Times New Roman" panose="02020603050405020304" pitchFamily="18" charset="0"/>
                        </a:rPr>
                        <a:t>Management</a:t>
                      </a:r>
                      <a:endParaRPr lang="en-IN" sz="2000" dirty="0">
                        <a:solidFill>
                          <a:schemeClr val="tx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a:solidFill>
                            <a:schemeClr val="tx2">
                              <a:lumMod val="10000"/>
                            </a:schemeClr>
                          </a:solidFill>
                          <a:latin typeface="Times New Roman" panose="02020603050405020304" pitchFamily="18" charset="0"/>
                          <a:cs typeface="Times New Roman" panose="02020603050405020304" pitchFamily="18" charset="0"/>
                        </a:rPr>
                        <a:t>Planning and control documents (usually informal text)</a:t>
                      </a:r>
                    </a:p>
                  </a:txBody>
                  <a:tcPr anchor="ctr"/>
                </a:tc>
                <a:extLst>
                  <a:ext uri="{0D108BD9-81ED-4DB2-BD59-A6C34878D82A}">
                    <a16:rowId xmlns:a16="http://schemas.microsoft.com/office/drawing/2014/main" val="3544287066"/>
                  </a:ext>
                </a:extLst>
              </a:tr>
              <a:tr h="524282">
                <a:tc>
                  <a:txBody>
                    <a:bodyPr/>
                    <a:lstStyle/>
                    <a:p>
                      <a:pPr>
                        <a:buNone/>
                      </a:pPr>
                      <a:r>
                        <a:rPr lang="en-IN" sz="2000" b="1" dirty="0">
                          <a:solidFill>
                            <a:schemeClr val="tx2">
                              <a:lumMod val="10000"/>
                            </a:schemeClr>
                          </a:solidFill>
                          <a:latin typeface="Times New Roman" panose="02020603050405020304" pitchFamily="18" charset="0"/>
                          <a:cs typeface="Times New Roman" panose="02020603050405020304" pitchFamily="18" charset="0"/>
                        </a:rPr>
                        <a:t>Requirements</a:t>
                      </a:r>
                      <a:endParaRPr lang="en-IN" sz="2000" dirty="0">
                        <a:solidFill>
                          <a:schemeClr val="tx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tx2">
                              <a:lumMod val="10000"/>
                            </a:schemeClr>
                          </a:solidFill>
                          <a:latin typeface="Times New Roman" panose="02020603050405020304" pitchFamily="18" charset="0"/>
                          <a:cs typeface="Times New Roman" panose="02020603050405020304" pitchFamily="18" charset="0"/>
                        </a:rPr>
                        <a:t>Describes what the system should do (text and models of the problem space)</a:t>
                      </a:r>
                    </a:p>
                  </a:txBody>
                  <a:tcPr anchor="ctr"/>
                </a:tc>
                <a:extLst>
                  <a:ext uri="{0D108BD9-81ED-4DB2-BD59-A6C34878D82A}">
                    <a16:rowId xmlns:a16="http://schemas.microsoft.com/office/drawing/2014/main" val="2988207737"/>
                  </a:ext>
                </a:extLst>
              </a:tr>
              <a:tr h="524282">
                <a:tc>
                  <a:txBody>
                    <a:bodyPr/>
                    <a:lstStyle/>
                    <a:p>
                      <a:pPr>
                        <a:buNone/>
                      </a:pPr>
                      <a:r>
                        <a:rPr lang="en-IN" sz="2000" b="1">
                          <a:solidFill>
                            <a:schemeClr val="tx2">
                              <a:lumMod val="10000"/>
                            </a:schemeClr>
                          </a:solidFill>
                          <a:latin typeface="Times New Roman" panose="02020603050405020304" pitchFamily="18" charset="0"/>
                          <a:cs typeface="Times New Roman" panose="02020603050405020304" pitchFamily="18" charset="0"/>
                        </a:rPr>
                        <a:t>Design</a:t>
                      </a:r>
                      <a:endParaRPr lang="en-IN" sz="2000">
                        <a:solidFill>
                          <a:schemeClr val="tx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a:solidFill>
                            <a:schemeClr val="tx2">
                              <a:lumMod val="10000"/>
                            </a:schemeClr>
                          </a:solidFill>
                          <a:latin typeface="Times New Roman" panose="02020603050405020304" pitchFamily="18" charset="0"/>
                          <a:cs typeface="Times New Roman" panose="02020603050405020304" pitchFamily="18" charset="0"/>
                        </a:rPr>
                        <a:t>Shows how the system will work (models of the solution space)</a:t>
                      </a:r>
                    </a:p>
                  </a:txBody>
                  <a:tcPr anchor="ctr"/>
                </a:tc>
                <a:extLst>
                  <a:ext uri="{0D108BD9-81ED-4DB2-BD59-A6C34878D82A}">
                    <a16:rowId xmlns:a16="http://schemas.microsoft.com/office/drawing/2014/main" val="2452408420"/>
                  </a:ext>
                </a:extLst>
              </a:tr>
              <a:tr h="524282">
                <a:tc>
                  <a:txBody>
                    <a:bodyPr/>
                    <a:lstStyle/>
                    <a:p>
                      <a:pPr>
                        <a:buNone/>
                      </a:pPr>
                      <a:r>
                        <a:rPr lang="en-IN" sz="2000" b="1">
                          <a:solidFill>
                            <a:schemeClr val="tx2">
                              <a:lumMod val="10000"/>
                            </a:schemeClr>
                          </a:solidFill>
                          <a:latin typeface="Times New Roman" panose="02020603050405020304" pitchFamily="18" charset="0"/>
                          <a:cs typeface="Times New Roman" panose="02020603050405020304" pitchFamily="18" charset="0"/>
                        </a:rPr>
                        <a:t>Implementation</a:t>
                      </a:r>
                      <a:endParaRPr lang="en-IN" sz="2000">
                        <a:solidFill>
                          <a:schemeClr val="tx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a:solidFill>
                            <a:schemeClr val="tx2">
                              <a:lumMod val="10000"/>
                            </a:schemeClr>
                          </a:solidFill>
                          <a:latin typeface="Times New Roman" panose="02020603050405020304" pitchFamily="18" charset="0"/>
                          <a:cs typeface="Times New Roman" panose="02020603050405020304" pitchFamily="18" charset="0"/>
                        </a:rPr>
                        <a:t>Source code and related files (e.g., C++, Java, Visual Basic)</a:t>
                      </a:r>
                    </a:p>
                  </a:txBody>
                  <a:tcPr anchor="ctr"/>
                </a:tc>
                <a:extLst>
                  <a:ext uri="{0D108BD9-81ED-4DB2-BD59-A6C34878D82A}">
                    <a16:rowId xmlns:a16="http://schemas.microsoft.com/office/drawing/2014/main" val="1342808580"/>
                  </a:ext>
                </a:extLst>
              </a:tr>
              <a:tr h="524282">
                <a:tc>
                  <a:txBody>
                    <a:bodyPr/>
                    <a:lstStyle/>
                    <a:p>
                      <a:pPr>
                        <a:buNone/>
                      </a:pPr>
                      <a:r>
                        <a:rPr lang="en-IN" sz="2000" b="1">
                          <a:solidFill>
                            <a:schemeClr val="tx2">
                              <a:lumMod val="10000"/>
                            </a:schemeClr>
                          </a:solidFill>
                          <a:latin typeface="Times New Roman" panose="02020603050405020304" pitchFamily="18" charset="0"/>
                          <a:cs typeface="Times New Roman" panose="02020603050405020304" pitchFamily="18" charset="0"/>
                        </a:rPr>
                        <a:t>Deployment</a:t>
                      </a:r>
                      <a:endParaRPr lang="en-IN" sz="2000">
                        <a:solidFill>
                          <a:schemeClr val="tx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tx2">
                              <a:lumMod val="10000"/>
                            </a:schemeClr>
                          </a:solidFill>
                          <a:latin typeface="Times New Roman" panose="02020603050405020304" pitchFamily="18" charset="0"/>
                          <a:cs typeface="Times New Roman" panose="02020603050405020304" pitchFamily="18" charset="0"/>
                        </a:rPr>
                        <a:t>Files for installing and running the system (machine-readable formats)</a:t>
                      </a:r>
                    </a:p>
                  </a:txBody>
                  <a:tcPr anchor="ctr"/>
                </a:tc>
                <a:extLst>
                  <a:ext uri="{0D108BD9-81ED-4DB2-BD59-A6C34878D82A}">
                    <a16:rowId xmlns:a16="http://schemas.microsoft.com/office/drawing/2014/main" val="2763832582"/>
                  </a:ext>
                </a:extLst>
              </a:tr>
            </a:tbl>
          </a:graphicData>
        </a:graphic>
      </p:graphicFrame>
    </p:spTree>
    <p:extLst>
      <p:ext uri="{BB962C8B-B14F-4D97-AF65-F5344CB8AC3E}">
        <p14:creationId xmlns:p14="http://schemas.microsoft.com/office/powerpoint/2010/main" val="2360263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C3596-91E5-807A-E1CA-096E69CA1673}"/>
              </a:ext>
            </a:extLst>
          </p:cNvPr>
          <p:cNvSpPr>
            <a:spLocks noGrp="1"/>
          </p:cNvSpPr>
          <p:nvPr>
            <p:ph type="title"/>
          </p:nvPr>
        </p:nvSpPr>
        <p:spPr>
          <a:xfrm>
            <a:off x="1482880" y="-322580"/>
            <a:ext cx="9692640" cy="1325562"/>
          </a:xfrm>
        </p:spPr>
        <p:txBody>
          <a:bodyPr/>
          <a:lstStyle/>
          <a:p>
            <a:r>
              <a:rPr lang="en-IN" b="1" dirty="0">
                <a:solidFill>
                  <a:schemeClr val="tx2">
                    <a:lumMod val="10000"/>
                  </a:schemeClr>
                </a:solidFill>
              </a:rPr>
              <a:t>Overview of Artifacts Sets:</a:t>
            </a:r>
          </a:p>
        </p:txBody>
      </p:sp>
      <p:sp>
        <p:nvSpPr>
          <p:cNvPr id="3" name="Content Placeholder 2">
            <a:extLst>
              <a:ext uri="{FF2B5EF4-FFF2-40B4-BE49-F238E27FC236}">
                <a16:creationId xmlns:a16="http://schemas.microsoft.com/office/drawing/2014/main" id="{F063B490-6FD9-3FD8-751D-2DEADCEAE07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FE45BEE-6C8F-57AB-C956-432E094B5EE0}"/>
              </a:ext>
            </a:extLst>
          </p:cNvPr>
          <p:cNvPicPr>
            <a:picLocks noChangeAspect="1"/>
          </p:cNvPicPr>
          <p:nvPr/>
        </p:nvPicPr>
        <p:blipFill>
          <a:blip r:embed="rId2"/>
          <a:stretch>
            <a:fillRect/>
          </a:stretch>
        </p:blipFill>
        <p:spPr>
          <a:xfrm>
            <a:off x="1016480" y="1028541"/>
            <a:ext cx="9086144" cy="5715865"/>
          </a:xfrm>
          <a:prstGeom prst="rect">
            <a:avLst/>
          </a:prstGeom>
        </p:spPr>
      </p:pic>
    </p:spTree>
    <p:extLst>
      <p:ext uri="{BB962C8B-B14F-4D97-AF65-F5344CB8AC3E}">
        <p14:creationId xmlns:p14="http://schemas.microsoft.com/office/powerpoint/2010/main" val="564434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B4C2EF8-6742-E2C6-7D8E-1ECA2F7A8C40}"/>
              </a:ext>
            </a:extLst>
          </p:cNvPr>
          <p:cNvSpPr txBox="1"/>
          <p:nvPr/>
        </p:nvSpPr>
        <p:spPr>
          <a:xfrm>
            <a:off x="122128" y="191113"/>
            <a:ext cx="10913301" cy="6617196"/>
          </a:xfrm>
          <a:prstGeom prst="rect">
            <a:avLst/>
          </a:prstGeom>
          <a:noFill/>
        </p:spPr>
        <p:txBody>
          <a:bodyPr wrap="square">
            <a:spAutoFit/>
          </a:bodyPr>
          <a:lstStyle/>
          <a:p>
            <a:pPr marL="285750" indent="-285750">
              <a:buFont typeface="Wingdings" panose="05000000000000000000" pitchFamily="2" charset="2"/>
              <a:buChar char="q"/>
            </a:pPr>
            <a:r>
              <a:rPr lang="en-US" sz="2800" b="1" kern="0" dirty="0">
                <a:solidFill>
                  <a:schemeClr val="bg2"/>
                </a:solidFill>
                <a:latin typeface="Times New Roman" panose="02020603050405020304" pitchFamily="18" charset="0"/>
                <a:cs typeface="Times New Roman" panose="02020603050405020304" pitchFamily="18" charset="0"/>
                <a:sym typeface="Arial"/>
              </a:rPr>
              <a:t> Engineering artifacts:</a:t>
            </a:r>
          </a:p>
          <a:p>
            <a:pPr lvl="0" defTabSz="914400" eaLnBrk="0" fontAlgn="base" hangingPunct="0">
              <a:spcBef>
                <a:spcPct val="0"/>
              </a:spcBef>
              <a:spcAft>
                <a:spcPct val="0"/>
              </a:spcAft>
              <a:buFontTx/>
              <a:buChar char="•"/>
            </a:pPr>
            <a:r>
              <a:rPr lang="en-US" altLang="en-US" sz="2600" dirty="0">
                <a:solidFill>
                  <a:schemeClr val="bg2"/>
                </a:solidFill>
                <a:latin typeface="Times New Roman" panose="02020603050405020304" pitchFamily="18" charset="0"/>
                <a:cs typeface="Times New Roman" panose="02020603050405020304" pitchFamily="18" charset="0"/>
              </a:rPr>
              <a:t> Composed of four sets: </a:t>
            </a:r>
            <a:r>
              <a:rPr lang="en-US" altLang="en-US" sz="2600" b="1" dirty="0">
                <a:solidFill>
                  <a:schemeClr val="bg2"/>
                </a:solidFill>
                <a:latin typeface="Times New Roman" panose="02020603050405020304" pitchFamily="18" charset="0"/>
                <a:cs typeface="Times New Roman" panose="02020603050405020304" pitchFamily="18" charset="0"/>
              </a:rPr>
              <a:t>Requirements</a:t>
            </a:r>
            <a:r>
              <a:rPr lang="en-US" altLang="en-US" sz="2600" dirty="0">
                <a:solidFill>
                  <a:schemeClr val="bg2"/>
                </a:solidFill>
                <a:latin typeface="Times New Roman" panose="02020603050405020304" pitchFamily="18" charset="0"/>
                <a:cs typeface="Times New Roman" panose="02020603050405020304" pitchFamily="18" charset="0"/>
              </a:rPr>
              <a:t>, </a:t>
            </a:r>
            <a:r>
              <a:rPr lang="en-US" altLang="en-US" sz="2600" b="1" dirty="0">
                <a:solidFill>
                  <a:schemeClr val="bg2"/>
                </a:solidFill>
                <a:latin typeface="Times New Roman" panose="02020603050405020304" pitchFamily="18" charset="0"/>
                <a:cs typeface="Times New Roman" panose="02020603050405020304" pitchFamily="18" charset="0"/>
              </a:rPr>
              <a:t>Design</a:t>
            </a:r>
            <a:r>
              <a:rPr lang="en-US" altLang="en-US" sz="2600" dirty="0">
                <a:solidFill>
                  <a:schemeClr val="bg2"/>
                </a:solidFill>
                <a:latin typeface="Times New Roman" panose="02020603050405020304" pitchFamily="18" charset="0"/>
                <a:cs typeface="Times New Roman" panose="02020603050405020304" pitchFamily="18" charset="0"/>
              </a:rPr>
              <a:t>, </a:t>
            </a:r>
            <a:r>
              <a:rPr lang="en-US" altLang="en-US" sz="2600" b="1" dirty="0">
                <a:solidFill>
                  <a:schemeClr val="bg2"/>
                </a:solidFill>
                <a:latin typeface="Times New Roman" panose="02020603050405020304" pitchFamily="18" charset="0"/>
                <a:cs typeface="Times New Roman" panose="02020603050405020304" pitchFamily="18" charset="0"/>
              </a:rPr>
              <a:t>Implementation</a:t>
            </a:r>
            <a:r>
              <a:rPr lang="en-US" altLang="en-US" sz="2600" dirty="0">
                <a:solidFill>
                  <a:schemeClr val="bg2"/>
                </a:solidFill>
                <a:latin typeface="Times New Roman" panose="02020603050405020304" pitchFamily="18" charset="0"/>
                <a:cs typeface="Times New Roman" panose="02020603050405020304" pitchFamily="18" charset="0"/>
              </a:rPr>
              <a:t>, and </a:t>
            </a:r>
            <a:r>
              <a:rPr lang="en-US" altLang="en-US" sz="2600" b="1" dirty="0">
                <a:solidFill>
                  <a:schemeClr val="bg2"/>
                </a:solidFill>
                <a:latin typeface="Times New Roman" panose="02020603050405020304" pitchFamily="18" charset="0"/>
                <a:cs typeface="Times New Roman" panose="02020603050405020304" pitchFamily="18" charset="0"/>
              </a:rPr>
              <a:t>Deployment</a:t>
            </a:r>
            <a:r>
              <a:rPr lang="en-US" altLang="en-US" sz="2600" dirty="0">
                <a:solidFill>
                  <a:schemeClr val="bg2"/>
                </a:solidFill>
                <a:latin typeface="Times New Roman" panose="02020603050405020304" pitchFamily="18" charset="0"/>
                <a:cs typeface="Times New Roman" panose="02020603050405020304" pitchFamily="18" charset="0"/>
              </a:rPr>
              <a:t>.</a:t>
            </a:r>
          </a:p>
          <a:p>
            <a:pPr lvl="0" defTabSz="914400" eaLnBrk="0" fontAlgn="base" hangingPunct="0">
              <a:spcBef>
                <a:spcPct val="0"/>
              </a:spcBef>
              <a:spcAft>
                <a:spcPct val="0"/>
              </a:spcAft>
              <a:buFontTx/>
              <a:buChar char="•"/>
            </a:pPr>
            <a:r>
              <a:rPr lang="en-US" altLang="en-US" sz="2600" dirty="0">
                <a:solidFill>
                  <a:schemeClr val="bg2"/>
                </a:solidFill>
                <a:latin typeface="Times New Roman" panose="02020603050405020304" pitchFamily="18" charset="0"/>
                <a:cs typeface="Times New Roman" panose="02020603050405020304" pitchFamily="18" charset="0"/>
              </a:rPr>
              <a:t> Quality is evaluated by </a:t>
            </a:r>
            <a:r>
              <a:rPr lang="en-US" altLang="en-US" sz="2600" b="1" dirty="0">
                <a:solidFill>
                  <a:schemeClr val="bg2"/>
                </a:solidFill>
                <a:latin typeface="Times New Roman" panose="02020603050405020304" pitchFamily="18" charset="0"/>
                <a:cs typeface="Times New Roman" panose="02020603050405020304" pitchFamily="18" charset="0"/>
              </a:rPr>
              <a:t>transitioning information</a:t>
            </a:r>
            <a:r>
              <a:rPr lang="en-US" altLang="en-US" sz="2600" dirty="0">
                <a:solidFill>
                  <a:schemeClr val="bg2"/>
                </a:solidFill>
                <a:latin typeface="Times New Roman" panose="02020603050405020304" pitchFamily="18" charset="0"/>
                <a:cs typeface="Times New Roman" panose="02020603050405020304" pitchFamily="18" charset="0"/>
              </a:rPr>
              <a:t> between sets to maintain consistency and understanding. </a:t>
            </a:r>
            <a:endParaRPr lang="en-US" sz="2600" b="1" dirty="0">
              <a:solidFill>
                <a:schemeClr val="bg2"/>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sz="2400" b="1" dirty="0">
                <a:solidFill>
                  <a:srgbClr val="FF0000"/>
                </a:solidFill>
                <a:latin typeface="Times New Roman" panose="02020603050405020304" pitchFamily="18" charset="0"/>
                <a:cs typeface="Times New Roman" panose="02020603050405020304" pitchFamily="18" charset="0"/>
              </a:rPr>
              <a:t>1. Requirements Set:</a:t>
            </a:r>
          </a:p>
          <a:p>
            <a:pPr marL="342900"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Uses </a:t>
            </a:r>
            <a:r>
              <a:rPr lang="en-US" sz="2400" b="1" dirty="0">
                <a:solidFill>
                  <a:schemeClr val="bg2"/>
                </a:solidFill>
                <a:latin typeface="Times New Roman" panose="02020603050405020304" pitchFamily="18" charset="0"/>
                <a:cs typeface="Times New Roman" panose="02020603050405020304" pitchFamily="18" charset="0"/>
              </a:rPr>
              <a:t>structured text</a:t>
            </a:r>
            <a:r>
              <a:rPr lang="en-US" sz="2400" dirty="0">
                <a:solidFill>
                  <a:schemeClr val="bg2"/>
                </a:solidFill>
                <a:latin typeface="Times New Roman" panose="02020603050405020304" pitchFamily="18" charset="0"/>
                <a:cs typeface="Times New Roman" panose="02020603050405020304" pitchFamily="18" charset="0"/>
              </a:rPr>
              <a:t> for vision statements and </a:t>
            </a:r>
            <a:r>
              <a:rPr lang="en-US" sz="2400" b="1" dirty="0">
                <a:solidFill>
                  <a:schemeClr val="bg2"/>
                </a:solidFill>
                <a:latin typeface="Times New Roman" panose="02020603050405020304" pitchFamily="18" charset="0"/>
                <a:cs typeface="Times New Roman" panose="02020603050405020304" pitchFamily="18" charset="0"/>
              </a:rPr>
              <a:t>UML</a:t>
            </a:r>
            <a:r>
              <a:rPr lang="en-US" sz="2400" dirty="0">
                <a:solidFill>
                  <a:schemeClr val="bg2"/>
                </a:solidFill>
                <a:latin typeface="Times New Roman" panose="02020603050405020304" pitchFamily="18" charset="0"/>
                <a:cs typeface="Times New Roman" panose="02020603050405020304" pitchFamily="18" charset="0"/>
              </a:rPr>
              <a:t> for models (use cases, domain models).</a:t>
            </a:r>
          </a:p>
          <a:p>
            <a:pPr marL="342900"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Includes </a:t>
            </a:r>
            <a:r>
              <a:rPr lang="en-US" sz="2400" b="1" dirty="0">
                <a:solidFill>
                  <a:schemeClr val="bg2"/>
                </a:solidFill>
                <a:latin typeface="Times New Roman" panose="02020603050405020304" pitchFamily="18" charset="0"/>
                <a:cs typeface="Times New Roman" panose="02020603050405020304" pitchFamily="18" charset="0"/>
              </a:rPr>
              <a:t>supplementary specs</a:t>
            </a:r>
            <a:r>
              <a:rPr lang="en-US" sz="2400" dirty="0">
                <a:solidFill>
                  <a:schemeClr val="bg2"/>
                </a:solidFill>
                <a:latin typeface="Times New Roman" panose="02020603050405020304" pitchFamily="18" charset="0"/>
                <a:cs typeface="Times New Roman" panose="02020603050405020304" pitchFamily="18" charset="0"/>
              </a:rPr>
              <a:t>, </a:t>
            </a:r>
            <a:r>
              <a:rPr lang="en-US" sz="2400" b="1" dirty="0">
                <a:solidFill>
                  <a:schemeClr val="bg2"/>
                </a:solidFill>
                <a:latin typeface="Times New Roman" panose="02020603050405020304" pitchFamily="18" charset="0"/>
                <a:cs typeface="Times New Roman" panose="02020603050405020304" pitchFamily="18" charset="0"/>
              </a:rPr>
              <a:t>mockups</a:t>
            </a:r>
            <a:r>
              <a:rPr lang="en-US" sz="2400" dirty="0">
                <a:solidFill>
                  <a:schemeClr val="bg2"/>
                </a:solidFill>
                <a:latin typeface="Times New Roman" panose="02020603050405020304" pitchFamily="18" charset="0"/>
                <a:cs typeface="Times New Roman" panose="02020603050405020304" pitchFamily="18" charset="0"/>
              </a:rPr>
              <a:t>, and </a:t>
            </a:r>
            <a:r>
              <a:rPr lang="en-US" sz="2400" b="1" dirty="0">
                <a:solidFill>
                  <a:schemeClr val="bg2"/>
                </a:solidFill>
                <a:latin typeface="Times New Roman" panose="02020603050405020304" pitchFamily="18" charset="0"/>
                <a:cs typeface="Times New Roman" panose="02020603050405020304" pitchFamily="18" charset="0"/>
              </a:rPr>
              <a:t>prototypes</a:t>
            </a:r>
            <a:r>
              <a:rPr lang="en-US" sz="2400" dirty="0">
                <a:solidFill>
                  <a:schemeClr val="bg2"/>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Serves as the </a:t>
            </a:r>
            <a:r>
              <a:rPr lang="en-US" sz="2400" b="1" dirty="0">
                <a:solidFill>
                  <a:schemeClr val="bg2"/>
                </a:solidFill>
                <a:latin typeface="Times New Roman" panose="02020603050405020304" pitchFamily="18" charset="0"/>
                <a:cs typeface="Times New Roman" panose="02020603050405020304" pitchFamily="18" charset="0"/>
              </a:rPr>
              <a:t>primary reference</a:t>
            </a:r>
            <a:r>
              <a:rPr lang="en-US" sz="2400" dirty="0">
                <a:solidFill>
                  <a:schemeClr val="bg2"/>
                </a:solidFill>
                <a:latin typeface="Times New Roman" panose="02020603050405020304" pitchFamily="18" charset="0"/>
                <a:cs typeface="Times New Roman" panose="02020603050405020304" pitchFamily="18" charset="0"/>
              </a:rPr>
              <a:t> for evaluating other sets and forming test cases.</a:t>
            </a:r>
          </a:p>
          <a:p>
            <a:pPr marL="342900"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Evaluation methods:</a:t>
            </a:r>
          </a:p>
          <a:p>
            <a:pPr marL="800100" lvl="1"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Consistency with release specs</a:t>
            </a:r>
          </a:p>
          <a:p>
            <a:pPr marL="800100" lvl="1"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Alignment between vision and models</a:t>
            </a:r>
          </a:p>
          <a:p>
            <a:pPr marL="800100" lvl="1"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Mapping to design, implementation, and deployment sets</a:t>
            </a:r>
          </a:p>
          <a:p>
            <a:pPr marL="800100" lvl="1"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Tracking changes and trends (defects, rework)</a:t>
            </a:r>
          </a:p>
          <a:p>
            <a:pPr marL="800100" lvl="1" indent="-34290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Subjective quality reviews</a:t>
            </a:r>
          </a:p>
          <a:p>
            <a:endParaRPr lang="en-IN" sz="2800"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122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05510A-F7C7-74F3-C3C7-4A4594C9AC85}"/>
              </a:ext>
            </a:extLst>
          </p:cNvPr>
          <p:cNvSpPr txBox="1"/>
          <p:nvPr/>
        </p:nvSpPr>
        <p:spPr>
          <a:xfrm>
            <a:off x="0" y="58846"/>
            <a:ext cx="11736887" cy="6370975"/>
          </a:xfrm>
          <a:prstGeom prst="rect">
            <a:avLst/>
          </a:prstGeom>
          <a:noFill/>
        </p:spPr>
        <p:txBody>
          <a:bodyPr wrap="square">
            <a:spAutoFit/>
          </a:bodyPr>
          <a:lstStyle/>
          <a:p>
            <a:pPr>
              <a:buNone/>
            </a:pPr>
            <a:r>
              <a:rPr lang="en-US" sz="2400" b="1" dirty="0">
                <a:solidFill>
                  <a:srgbClr val="00B0F0"/>
                </a:solidFill>
                <a:latin typeface="Times New Roman" panose="02020603050405020304" pitchFamily="18" charset="0"/>
                <a:cs typeface="Times New Roman" panose="02020603050405020304" pitchFamily="18" charset="0"/>
              </a:rPr>
              <a:t>2. Design Set:</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Uses </a:t>
            </a:r>
            <a:r>
              <a:rPr lang="en-US" sz="2400" b="1" dirty="0">
                <a:solidFill>
                  <a:schemeClr val="bg2"/>
                </a:solidFill>
                <a:latin typeface="Times New Roman" panose="02020603050405020304" pitchFamily="18" charset="0"/>
                <a:cs typeface="Times New Roman" panose="02020603050405020304" pitchFamily="18" charset="0"/>
              </a:rPr>
              <a:t>UML notation</a:t>
            </a:r>
            <a:r>
              <a:rPr lang="en-US" sz="2400" dirty="0">
                <a:solidFill>
                  <a:schemeClr val="bg2"/>
                </a:solidFill>
                <a:latin typeface="Times New Roman" panose="02020603050405020304" pitchFamily="18" charset="0"/>
                <a:cs typeface="Times New Roman" panose="02020603050405020304" pitchFamily="18" charset="0"/>
              </a:rPr>
              <a:t> to model solution components (identities, attributes, relationships, interactions).</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Includes </a:t>
            </a:r>
            <a:r>
              <a:rPr lang="en-US" sz="2400" b="1" dirty="0">
                <a:solidFill>
                  <a:schemeClr val="bg2"/>
                </a:solidFill>
                <a:latin typeface="Times New Roman" panose="02020603050405020304" pitchFamily="18" charset="0"/>
                <a:cs typeface="Times New Roman" panose="02020603050405020304" pitchFamily="18" charset="0"/>
              </a:rPr>
              <a:t>structural and behavioral models</a:t>
            </a:r>
            <a:r>
              <a:rPr lang="en-US" sz="2400" dirty="0">
                <a:solidFill>
                  <a:schemeClr val="bg2"/>
                </a:solidFill>
                <a:latin typeface="Times New Roman" panose="02020603050405020304" pitchFamily="18" charset="0"/>
                <a:cs typeface="Times New Roman" panose="02020603050405020304" pitchFamily="18" charset="0"/>
              </a:rPr>
              <a:t>, </a:t>
            </a:r>
            <a:r>
              <a:rPr lang="en-US" sz="2400" b="1" dirty="0">
                <a:solidFill>
                  <a:schemeClr val="bg2"/>
                </a:solidFill>
                <a:latin typeface="Times New Roman" panose="02020603050405020304" pitchFamily="18" charset="0"/>
                <a:cs typeface="Times New Roman" panose="02020603050405020304" pitchFamily="18" charset="0"/>
              </a:rPr>
              <a:t>test models</a:t>
            </a:r>
            <a:r>
              <a:rPr lang="en-US" sz="2400" dirty="0">
                <a:solidFill>
                  <a:schemeClr val="bg2"/>
                </a:solidFill>
                <a:latin typeface="Times New Roman" panose="02020603050405020304" pitchFamily="18" charset="0"/>
                <a:cs typeface="Times New Roman" panose="02020603050405020304" pitchFamily="18" charset="0"/>
              </a:rPr>
              <a:t>, and </a:t>
            </a:r>
            <a:r>
              <a:rPr lang="en-US" sz="2400" b="1" dirty="0">
                <a:solidFill>
                  <a:schemeClr val="bg2"/>
                </a:solidFill>
                <a:latin typeface="Times New Roman" panose="02020603050405020304" pitchFamily="18" charset="0"/>
                <a:cs typeface="Times New Roman" panose="02020603050405020304" pitchFamily="18" charset="0"/>
              </a:rPr>
              <a:t>architecture descriptions</a:t>
            </a:r>
            <a:r>
              <a:rPr lang="en-US" sz="2400"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Can be translated into implementation and deployment artifacts.</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Evaluation methods:</a:t>
            </a:r>
          </a:p>
          <a:p>
            <a:pPr marL="742950" lvl="1" indent="-28575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Internal consistency and quality</a:t>
            </a:r>
          </a:p>
          <a:p>
            <a:pPr marL="742950" lvl="1" indent="-28575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Consistency with requirements</a:t>
            </a:r>
          </a:p>
          <a:p>
            <a:pPr marL="742950" lvl="1" indent="-28575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Translation accuracy to other sets</a:t>
            </a:r>
          </a:p>
          <a:p>
            <a:pPr marL="742950" lvl="1" indent="-28575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Change analysis over versions</a:t>
            </a:r>
          </a:p>
          <a:p>
            <a:pPr marL="742950" lvl="1" indent="-285750">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Subjective quality reviews</a:t>
            </a:r>
          </a:p>
          <a:p>
            <a:pPr>
              <a:buFont typeface="Arial" panose="020B0604020202020204" pitchFamily="34" charset="0"/>
              <a:buChar char="•"/>
            </a:pPr>
            <a:r>
              <a:rPr lang="en-US" sz="2400" b="1" dirty="0">
                <a:solidFill>
                  <a:schemeClr val="bg2"/>
                </a:solidFill>
                <a:latin typeface="Times New Roman" panose="02020603050405020304" pitchFamily="18" charset="0"/>
                <a:cs typeface="Times New Roman" panose="02020603050405020304" pitchFamily="18" charset="0"/>
              </a:rPr>
              <a:t> Human analysis</a:t>
            </a:r>
            <a:r>
              <a:rPr lang="en-US" sz="2400" dirty="0">
                <a:solidFill>
                  <a:schemeClr val="bg2"/>
                </a:solidFill>
                <a:latin typeface="Times New Roman" panose="02020603050405020304" pitchFamily="18" charset="0"/>
                <a:cs typeface="Times New Roman" panose="02020603050405020304" pitchFamily="18" charset="0"/>
              </a:rPr>
              <a:t> is currently essential due to limited automation.</a:t>
            </a:r>
            <a:endParaRPr lang="en-US" sz="2400" dirty="0">
              <a:solidFill>
                <a:srgbClr val="7030A0"/>
              </a:solidFill>
              <a:latin typeface="Times New Roman" panose="02020603050405020304" pitchFamily="18" charset="0"/>
              <a:cs typeface="Times New Roman" panose="02020603050405020304" pitchFamily="18" charset="0"/>
            </a:endParaRPr>
          </a:p>
          <a:p>
            <a:pPr>
              <a:buNone/>
            </a:pPr>
            <a:r>
              <a:rPr lang="en-US" sz="2400" b="1" dirty="0">
                <a:solidFill>
                  <a:srgbClr val="7030A0"/>
                </a:solidFill>
                <a:latin typeface="Times New Roman" panose="02020603050405020304" pitchFamily="18" charset="0"/>
                <a:cs typeface="Times New Roman" panose="02020603050405020304" pitchFamily="18" charset="0"/>
              </a:rPr>
              <a:t>3. Implementation Set:</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Represents </a:t>
            </a:r>
            <a:r>
              <a:rPr lang="en-US" sz="2400" b="1" dirty="0">
                <a:solidFill>
                  <a:schemeClr val="bg2"/>
                </a:solidFill>
                <a:latin typeface="Times New Roman" panose="02020603050405020304" pitchFamily="18" charset="0"/>
                <a:cs typeface="Times New Roman" panose="02020603050405020304" pitchFamily="18" charset="0"/>
              </a:rPr>
              <a:t>actual code</a:t>
            </a:r>
            <a:r>
              <a:rPr lang="en-US" sz="2400" dirty="0">
                <a:solidFill>
                  <a:schemeClr val="bg2"/>
                </a:solidFill>
                <a:latin typeface="Times New Roman" panose="02020603050405020304" pitchFamily="18" charset="0"/>
                <a:cs typeface="Times New Roman" panose="02020603050405020304" pitchFamily="18" charset="0"/>
              </a:rPr>
              <a:t> and component implementations.</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Includes </a:t>
            </a:r>
            <a:r>
              <a:rPr lang="en-US" sz="2400" b="1" dirty="0">
                <a:solidFill>
                  <a:schemeClr val="bg2"/>
                </a:solidFill>
                <a:latin typeface="Times New Roman" panose="02020603050405020304" pitchFamily="18" charset="0"/>
                <a:cs typeface="Times New Roman" panose="02020603050405020304" pitchFamily="18" charset="0"/>
              </a:rPr>
              <a:t>source code</a:t>
            </a:r>
            <a:r>
              <a:rPr lang="en-US" sz="2400" dirty="0">
                <a:solidFill>
                  <a:schemeClr val="bg2"/>
                </a:solidFill>
                <a:latin typeface="Times New Roman" panose="02020603050405020304" pitchFamily="18" charset="0"/>
                <a:cs typeface="Times New Roman" panose="02020603050405020304" pitchFamily="18" charset="0"/>
              </a:rPr>
              <a:t>, </a:t>
            </a:r>
            <a:r>
              <a:rPr lang="en-US" sz="2400" b="1" dirty="0">
                <a:solidFill>
                  <a:schemeClr val="bg2"/>
                </a:solidFill>
                <a:latin typeface="Times New Roman" panose="02020603050405020304" pitchFamily="18" charset="0"/>
                <a:cs typeface="Times New Roman" panose="02020603050405020304" pitchFamily="18" charset="0"/>
              </a:rPr>
              <a:t>interfaces</a:t>
            </a:r>
            <a:r>
              <a:rPr lang="en-US" sz="2400" dirty="0">
                <a:solidFill>
                  <a:schemeClr val="bg2"/>
                </a:solidFill>
                <a:latin typeface="Times New Roman" panose="02020603050405020304" pitchFamily="18" charset="0"/>
                <a:cs typeface="Times New Roman" panose="02020603050405020304" pitchFamily="18" charset="0"/>
              </a:rPr>
              <a:t>, </a:t>
            </a:r>
            <a:r>
              <a:rPr lang="en-US" sz="2400" b="1" dirty="0">
                <a:solidFill>
                  <a:schemeClr val="bg2"/>
                </a:solidFill>
                <a:latin typeface="Times New Roman" panose="02020603050405020304" pitchFamily="18" charset="0"/>
                <a:cs typeface="Times New Roman" panose="02020603050405020304" pitchFamily="18" charset="0"/>
              </a:rPr>
              <a:t>dependencies</a:t>
            </a:r>
            <a:r>
              <a:rPr lang="en-US" sz="2400" dirty="0">
                <a:solidFill>
                  <a:schemeClr val="bg2"/>
                </a:solidFill>
                <a:latin typeface="Times New Roman" panose="02020603050405020304" pitchFamily="18" charset="0"/>
                <a:cs typeface="Times New Roman" panose="02020603050405020304" pitchFamily="18" charset="0"/>
              </a:rPr>
              <a:t>, and </a:t>
            </a:r>
            <a:r>
              <a:rPr lang="en-US" sz="2400" b="1" dirty="0">
                <a:solidFill>
                  <a:schemeClr val="bg2"/>
                </a:solidFill>
                <a:latin typeface="Times New Roman" panose="02020603050405020304" pitchFamily="18" charset="0"/>
                <a:cs typeface="Times New Roman" panose="02020603050405020304" pitchFamily="18" charset="0"/>
              </a:rPr>
              <a:t>executables</a:t>
            </a:r>
            <a:r>
              <a:rPr lang="en-US" sz="2400" dirty="0">
                <a:solidFill>
                  <a:schemeClr val="bg2"/>
                </a:solidFill>
                <a:latin typeface="Times New Roman" panose="02020603050405020304" pitchFamily="18" charset="0"/>
                <a:cs typeface="Times New Roman" panose="02020603050405020304" pitchFamily="18" charset="0"/>
              </a:rPr>
              <a:t> for testing.</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Covers custom, commercial (APIs), reusable, and legacy components.</a:t>
            </a:r>
          </a:p>
          <a:p>
            <a:pPr>
              <a:buFont typeface="Arial" panose="020B0604020202020204" pitchFamily="34" charset="0"/>
              <a:buChar char="•"/>
            </a:pPr>
            <a:r>
              <a:rPr lang="en-US" sz="2400" dirty="0">
                <a:solidFill>
                  <a:schemeClr val="bg2"/>
                </a:solidFill>
                <a:latin typeface="Times New Roman" panose="02020603050405020304" pitchFamily="18" charset="0"/>
                <a:cs typeface="Times New Roman" panose="02020603050405020304" pitchFamily="18" charset="0"/>
              </a:rPr>
              <a:t> Programming languages: </a:t>
            </a:r>
            <a:r>
              <a:rPr lang="en-US" sz="2400" b="1" dirty="0">
                <a:solidFill>
                  <a:schemeClr val="bg2"/>
                </a:solidFill>
                <a:latin typeface="Times New Roman" panose="02020603050405020304" pitchFamily="18" charset="0"/>
                <a:cs typeface="Times New Roman" panose="02020603050405020304" pitchFamily="18" charset="0"/>
              </a:rPr>
              <a:t>Ada 95, C++, Visual Basic, Java, Assembly</a:t>
            </a:r>
            <a:r>
              <a:rPr lang="en-US" sz="2400" dirty="0">
                <a:solidFill>
                  <a:schemeClr val="bg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07550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4FC4CE-8CB4-6454-FDE4-06759BEFFEEB}"/>
              </a:ext>
            </a:extLst>
          </p:cNvPr>
          <p:cNvSpPr txBox="1"/>
          <p:nvPr/>
        </p:nvSpPr>
        <p:spPr>
          <a:xfrm>
            <a:off x="0" y="0"/>
            <a:ext cx="11301984" cy="7879080"/>
          </a:xfrm>
          <a:prstGeom prst="rect">
            <a:avLst/>
          </a:prstGeom>
          <a:noFill/>
        </p:spPr>
        <p:txBody>
          <a:bodyPr wrap="square">
            <a:spAutoFit/>
          </a:bodyPr>
          <a:lstStyle/>
          <a:p>
            <a:pPr marL="457200" indent="-457200">
              <a:buFont typeface="Wingdings" panose="05000000000000000000" pitchFamily="2" charset="2"/>
              <a:buChar char="q"/>
            </a:pPr>
            <a:r>
              <a:rPr lang="en-US" sz="2300" b="1" kern="0" dirty="0">
                <a:solidFill>
                  <a:schemeClr val="bg2"/>
                </a:solidFill>
                <a:latin typeface="Times New Roman" panose="02020603050405020304" pitchFamily="18" charset="0"/>
                <a:cs typeface="Times New Roman" panose="02020603050405020304" pitchFamily="18" charset="0"/>
                <a:sym typeface="Arial"/>
              </a:rPr>
              <a:t>Programming artifacts:</a:t>
            </a:r>
          </a:p>
          <a:p>
            <a:r>
              <a:rPr lang="en-US" sz="2300" dirty="0">
                <a:solidFill>
                  <a:schemeClr val="bg2"/>
                </a:solidFill>
                <a:latin typeface="Times New Roman" panose="02020603050405020304" pitchFamily="18" charset="0"/>
                <a:cs typeface="Times New Roman" panose="02020603050405020304" pitchFamily="18" charset="0"/>
              </a:rPr>
              <a:t>Programming artifacts are the tangible outputs of the software development process, expressed in code and executable forms. Like engineering artifacts, they evolve over time and are evaluated for quality, consistency, and completeness.</a:t>
            </a:r>
            <a:r>
              <a:rPr lang="en-US" sz="2300" b="1" kern="0" dirty="0">
                <a:solidFill>
                  <a:schemeClr val="bg2"/>
                </a:solidFill>
                <a:latin typeface="Times New Roman" panose="02020603050405020304" pitchFamily="18" charset="0"/>
                <a:cs typeface="Times New Roman" panose="02020603050405020304" pitchFamily="18" charset="0"/>
                <a:sym typeface="Arial"/>
              </a:rPr>
              <a:t> </a:t>
            </a:r>
          </a:p>
          <a:p>
            <a:pPr marL="342900" indent="-342900">
              <a:buFont typeface="Arial" panose="020B0604020202020204" pitchFamily="34" charset="0"/>
              <a:buChar char="•"/>
            </a:pPr>
            <a:r>
              <a:rPr lang="en-US" sz="2300" b="1" dirty="0">
                <a:solidFill>
                  <a:schemeClr val="bg2"/>
                </a:solidFill>
                <a:latin typeface="Times New Roman" panose="02020603050405020304" pitchFamily="18" charset="0"/>
                <a:cs typeface="Times New Roman" panose="02020603050405020304" pitchFamily="18" charset="0"/>
              </a:rPr>
              <a:t>Requirements:</a:t>
            </a:r>
          </a:p>
          <a:p>
            <a:r>
              <a:rPr lang="en-US" sz="2300" b="1" dirty="0">
                <a:solidFill>
                  <a:schemeClr val="bg2"/>
                </a:solidFill>
                <a:latin typeface="Times New Roman" panose="02020603050405020304" pitchFamily="18" charset="0"/>
                <a:cs typeface="Times New Roman" panose="02020603050405020304" pitchFamily="18" charset="0"/>
              </a:rPr>
              <a:t>Artifacts</a:t>
            </a:r>
            <a:r>
              <a:rPr lang="en-US" sz="2300" dirty="0">
                <a:solidFill>
                  <a:schemeClr val="bg2"/>
                </a:solidFill>
                <a:latin typeface="Times New Roman" panose="02020603050405020304" pitchFamily="18" charset="0"/>
                <a:cs typeface="Times New Roman" panose="02020603050405020304" pitchFamily="18" charset="0"/>
              </a:rPr>
              <a:t>: Specs, mockups, UML models, test cases.</a:t>
            </a:r>
          </a:p>
          <a:p>
            <a:r>
              <a:rPr lang="en-US" sz="2300" b="1" dirty="0">
                <a:solidFill>
                  <a:schemeClr val="bg2"/>
                </a:solidFill>
                <a:latin typeface="Times New Roman" panose="02020603050405020304" pitchFamily="18" charset="0"/>
                <a:cs typeface="Times New Roman" panose="02020603050405020304" pitchFamily="18" charset="0"/>
              </a:rPr>
              <a:t>Evaluation</a:t>
            </a:r>
            <a:r>
              <a:rPr lang="en-US" sz="2300" dirty="0">
                <a:solidFill>
                  <a:schemeClr val="bg2"/>
                </a:solidFill>
                <a:latin typeface="Times New Roman" panose="02020603050405020304" pitchFamily="18" charset="0"/>
                <a:cs typeface="Times New Roman" panose="02020603050405020304" pitchFamily="18" charset="0"/>
              </a:rPr>
              <a:t>: Consistency with scope, mapping to design/implementation, change tracking.</a:t>
            </a:r>
            <a:endParaRPr lang="en-IN" sz="2300" b="1" dirty="0">
              <a:solidFill>
                <a:schemeClr val="bg2"/>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b="1" dirty="0">
                <a:solidFill>
                  <a:schemeClr val="bg2"/>
                </a:solidFill>
                <a:latin typeface="Times New Roman" panose="02020603050405020304" pitchFamily="18" charset="0"/>
                <a:cs typeface="Times New Roman" panose="02020603050405020304" pitchFamily="18" charset="0"/>
              </a:rPr>
              <a:t>Design:</a:t>
            </a:r>
          </a:p>
          <a:p>
            <a:r>
              <a:rPr lang="en-US" sz="2300" b="1" dirty="0">
                <a:solidFill>
                  <a:schemeClr val="bg2"/>
                </a:solidFill>
                <a:latin typeface="Times New Roman" panose="02020603050405020304" pitchFamily="18" charset="0"/>
                <a:cs typeface="Times New Roman" panose="02020603050405020304" pitchFamily="18" charset="0"/>
              </a:rPr>
              <a:t>Artifacts</a:t>
            </a:r>
            <a:r>
              <a:rPr lang="en-US" sz="2300" dirty="0">
                <a:solidFill>
                  <a:schemeClr val="bg2"/>
                </a:solidFill>
                <a:latin typeface="Times New Roman" panose="02020603050405020304" pitchFamily="18" charset="0"/>
                <a:cs typeface="Times New Roman" panose="02020603050405020304" pitchFamily="18" charset="0"/>
              </a:rPr>
              <a:t>: UML diagrams, architecture descriptions, test models, data models.</a:t>
            </a:r>
          </a:p>
          <a:p>
            <a:r>
              <a:rPr lang="en-US" sz="2300" b="1" dirty="0">
                <a:solidFill>
                  <a:schemeClr val="bg2"/>
                </a:solidFill>
                <a:latin typeface="Times New Roman" panose="02020603050405020304" pitchFamily="18" charset="0"/>
                <a:cs typeface="Times New Roman" panose="02020603050405020304" pitchFamily="18" charset="0"/>
              </a:rPr>
              <a:t>Evaluation</a:t>
            </a:r>
            <a:r>
              <a:rPr lang="en-US" sz="2300" dirty="0">
                <a:solidFill>
                  <a:schemeClr val="bg2"/>
                </a:solidFill>
                <a:latin typeface="Times New Roman" panose="02020603050405020304" pitchFamily="18" charset="0"/>
                <a:cs typeface="Times New Roman" panose="02020603050405020304" pitchFamily="18" charset="0"/>
              </a:rPr>
              <a:t>: Internal consistency, alignment with requirements, translation accuracy, version analysis.</a:t>
            </a:r>
          </a:p>
          <a:p>
            <a:pPr marL="342900" indent="-342900" algn="just">
              <a:buFont typeface="Wingdings" panose="05000000000000000000" pitchFamily="2" charset="2"/>
              <a:buChar char="v"/>
            </a:pPr>
            <a:r>
              <a:rPr lang="en-US" sz="2300" b="1" dirty="0">
                <a:solidFill>
                  <a:schemeClr val="bg2"/>
                </a:solidFill>
                <a:latin typeface="Times New Roman" panose="02020603050405020304" pitchFamily="18" charset="0"/>
                <a:cs typeface="Times New Roman" panose="02020603050405020304" pitchFamily="18" charset="0"/>
              </a:rPr>
              <a:t>Implementation:</a:t>
            </a:r>
          </a:p>
          <a:p>
            <a:pPr algn="just">
              <a:buFont typeface="Arial" panose="020B0604020202020204" pitchFamily="34" charset="0"/>
              <a:buChar char="•"/>
            </a:pPr>
            <a:r>
              <a:rPr lang="en-US" sz="2300" b="1" dirty="0">
                <a:solidFill>
                  <a:schemeClr val="bg2"/>
                </a:solidFill>
                <a:latin typeface="Times New Roman" panose="02020603050405020304" pitchFamily="18" charset="0"/>
                <a:cs typeface="Times New Roman" panose="02020603050405020304" pitchFamily="18" charset="0"/>
              </a:rPr>
              <a:t> Artifacts</a:t>
            </a:r>
            <a:r>
              <a:rPr lang="en-US" sz="2300" dirty="0">
                <a:solidFill>
                  <a:schemeClr val="bg2"/>
                </a:solidFill>
                <a:latin typeface="Times New Roman" panose="02020603050405020304" pitchFamily="18" charset="0"/>
                <a:cs typeface="Times New Roman" panose="02020603050405020304" pitchFamily="18" charset="0"/>
              </a:rPr>
              <a:t>: Source code, libraries/APIs, config files, build scripts, test scripts, executables.</a:t>
            </a:r>
          </a:p>
          <a:p>
            <a:pPr algn="just">
              <a:buFont typeface="Arial" panose="020B0604020202020204" pitchFamily="34" charset="0"/>
              <a:buChar char="•"/>
            </a:pPr>
            <a:r>
              <a:rPr lang="en-US" sz="2300" b="1" dirty="0">
                <a:solidFill>
                  <a:schemeClr val="bg2"/>
                </a:solidFill>
                <a:latin typeface="Times New Roman" panose="02020603050405020304" pitchFamily="18" charset="0"/>
                <a:cs typeface="Times New Roman" panose="02020603050405020304" pitchFamily="18" charset="0"/>
              </a:rPr>
              <a:t> Evaluation</a:t>
            </a:r>
            <a:r>
              <a:rPr lang="en-US" sz="2300" dirty="0">
                <a:solidFill>
                  <a:schemeClr val="bg2"/>
                </a:solidFill>
                <a:latin typeface="Times New Roman" panose="02020603050405020304" pitchFamily="18" charset="0"/>
                <a:cs typeface="Times New Roman" panose="02020603050405020304" pitchFamily="18" charset="0"/>
              </a:rPr>
              <a:t>: Code quality, consistency with design, successful execution, test coverage.</a:t>
            </a:r>
          </a:p>
          <a:p>
            <a:pPr marL="342900" indent="-342900" algn="just">
              <a:buFont typeface="Wingdings" panose="05000000000000000000" pitchFamily="2" charset="2"/>
              <a:buChar char="v"/>
            </a:pPr>
            <a:r>
              <a:rPr lang="en-IN" sz="2300" b="1" dirty="0">
                <a:solidFill>
                  <a:schemeClr val="bg2"/>
                </a:solidFill>
                <a:latin typeface="Times New Roman" panose="02020603050405020304" pitchFamily="18" charset="0"/>
                <a:cs typeface="Times New Roman" panose="02020603050405020304" pitchFamily="18" charset="0"/>
              </a:rPr>
              <a:t>Deployment:</a:t>
            </a:r>
          </a:p>
          <a:p>
            <a:pPr algn="just"/>
            <a:r>
              <a:rPr lang="en-IN" sz="2300" b="1" dirty="0">
                <a:solidFill>
                  <a:schemeClr val="bg2"/>
                </a:solidFill>
                <a:latin typeface="Times New Roman" panose="02020603050405020304" pitchFamily="18" charset="0"/>
                <a:cs typeface="Times New Roman" panose="02020603050405020304" pitchFamily="18" charset="0"/>
              </a:rPr>
              <a:t>Artifacts</a:t>
            </a:r>
            <a:r>
              <a:rPr lang="en-IN" sz="2300" dirty="0">
                <a:solidFill>
                  <a:schemeClr val="bg2"/>
                </a:solidFill>
                <a:latin typeface="Times New Roman" panose="02020603050405020304" pitchFamily="18" charset="0"/>
                <a:cs typeface="Times New Roman" panose="02020603050405020304" pitchFamily="18" charset="0"/>
              </a:rPr>
              <a:t>: Deployment scripts, installation packages, environment configs, monitoring/logs.</a:t>
            </a:r>
          </a:p>
          <a:p>
            <a:pPr algn="just"/>
            <a:r>
              <a:rPr lang="en-IN" sz="2300" b="1" dirty="0">
                <a:solidFill>
                  <a:schemeClr val="bg2"/>
                </a:solidFill>
                <a:latin typeface="Times New Roman" panose="02020603050405020304" pitchFamily="18" charset="0"/>
                <a:cs typeface="Times New Roman" panose="02020603050405020304" pitchFamily="18" charset="0"/>
              </a:rPr>
              <a:t>Evaluation</a:t>
            </a:r>
            <a:r>
              <a:rPr lang="en-IN" sz="2300" dirty="0">
                <a:solidFill>
                  <a:schemeClr val="bg2"/>
                </a:solidFill>
                <a:latin typeface="Times New Roman" panose="02020603050405020304" pitchFamily="18" charset="0"/>
                <a:cs typeface="Times New Roman" panose="02020603050405020304" pitchFamily="18" charset="0"/>
              </a:rPr>
              <a:t>: Consistency with implementation, correct setup, performance/reliability, feedback loop.</a:t>
            </a:r>
          </a:p>
          <a:p>
            <a:pPr algn="just">
              <a:buFont typeface="Arial" panose="020B0604020202020204" pitchFamily="34" charset="0"/>
              <a:buChar char="•"/>
            </a:pPr>
            <a:endParaRPr lang="en-US" sz="2300" dirty="0">
              <a:solidFill>
                <a:schemeClr val="bg2"/>
              </a:solidFill>
              <a:latin typeface="Times New Roman" panose="02020603050405020304" pitchFamily="18" charset="0"/>
              <a:cs typeface="Times New Roman" panose="02020603050405020304" pitchFamily="18" charset="0"/>
            </a:endParaRPr>
          </a:p>
          <a:p>
            <a:endParaRPr lang="en-US" sz="2300" dirty="0">
              <a:solidFill>
                <a:schemeClr val="bg2"/>
              </a:solidFill>
              <a:latin typeface="Times New Roman" panose="02020603050405020304" pitchFamily="18" charset="0"/>
              <a:cs typeface="Times New Roman" panose="02020603050405020304" pitchFamily="18" charset="0"/>
            </a:endParaRPr>
          </a:p>
          <a:p>
            <a:endParaRPr lang="en-IN" sz="2300" b="1" dirty="0">
              <a:solidFill>
                <a:schemeClr val="bg2"/>
              </a:solidFill>
              <a:latin typeface="Times New Roman" panose="02020603050405020304" pitchFamily="18" charset="0"/>
              <a:cs typeface="Times New Roman" panose="02020603050405020304" pitchFamily="18" charset="0"/>
            </a:endParaRPr>
          </a:p>
          <a:p>
            <a:endParaRPr lang="en-IN" sz="2300"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7105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438AFA-3FBF-C334-DCDF-1F1A2A7CB38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170" t="1728" r="3480" b="2231"/>
          <a:stretch>
            <a:fillRect/>
          </a:stretch>
        </p:blipFill>
        <p:spPr>
          <a:xfrm>
            <a:off x="3492500" y="0"/>
            <a:ext cx="3721099" cy="6858000"/>
          </a:xfrm>
        </p:spPr>
      </p:pic>
    </p:spTree>
    <p:extLst>
      <p:ext uri="{BB962C8B-B14F-4D97-AF65-F5344CB8AC3E}">
        <p14:creationId xmlns:p14="http://schemas.microsoft.com/office/powerpoint/2010/main" val="2216438158"/>
      </p:ext>
    </p:extLst>
  </p:cSld>
  <p:clrMapOvr>
    <a:masterClrMapping/>
  </p:clrMapOvr>
</p:sld>
</file>

<file path=ppt/theme/theme1.xml><?xml version="1.0" encoding="utf-8"?>
<a:theme xmlns:a="http://schemas.openxmlformats.org/drawingml/2006/main" name="View">
  <a:themeElements>
    <a:clrScheme name="Custom 3">
      <a:dk1>
        <a:srgbClr val="FFFFFF"/>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docProps/app.xml><?xml version="1.0" encoding="utf-8"?>
<Properties xmlns="http://schemas.openxmlformats.org/officeDocument/2006/extended-properties" xmlns:vt="http://schemas.openxmlformats.org/officeDocument/2006/docPropsVTypes">
  <Template>View</Template>
  <TotalTime>518</TotalTime>
  <Words>2377</Words>
  <Application>Microsoft Office PowerPoint</Application>
  <PresentationFormat>Widescreen</PresentationFormat>
  <Paragraphs>264</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Agency FB</vt:lpstr>
      <vt:lpstr>Arial</vt:lpstr>
      <vt:lpstr>Century Schoolbook</vt:lpstr>
      <vt:lpstr>Sitka Small</vt:lpstr>
      <vt:lpstr>Times New Roman</vt:lpstr>
      <vt:lpstr>Wingdings</vt:lpstr>
      <vt:lpstr>Wingdings 2</vt:lpstr>
      <vt:lpstr>View</vt:lpstr>
      <vt:lpstr>MODULE-II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Engineering and production stages: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 of Artifacts Sets: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Chandika Battu</dc:creator>
  <cp:lastModifiedBy>Chandika Battu</cp:lastModifiedBy>
  <cp:revision>3</cp:revision>
  <dcterms:created xsi:type="dcterms:W3CDTF">2025-12-06T04:19:07Z</dcterms:created>
  <dcterms:modified xsi:type="dcterms:W3CDTF">2025-12-11T17:06:47Z</dcterms:modified>
</cp:coreProperties>
</file>