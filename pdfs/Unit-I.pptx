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8"/>
  </p:notesMasterIdLst>
  <p:sldIdLst>
    <p:sldId id="256" r:id="rId2"/>
    <p:sldId id="313" r:id="rId3"/>
    <p:sldId id="283" r:id="rId4"/>
    <p:sldId id="269" r:id="rId5"/>
    <p:sldId id="267" r:id="rId6"/>
    <p:sldId id="285" r:id="rId7"/>
    <p:sldId id="326" r:id="rId8"/>
    <p:sldId id="286" r:id="rId9"/>
    <p:sldId id="291" r:id="rId10"/>
    <p:sldId id="294" r:id="rId11"/>
    <p:sldId id="295" r:id="rId12"/>
    <p:sldId id="315" r:id="rId13"/>
    <p:sldId id="308" r:id="rId14"/>
    <p:sldId id="309" r:id="rId15"/>
    <p:sldId id="314" r:id="rId16"/>
    <p:sldId id="316" r:id="rId17"/>
    <p:sldId id="317" r:id="rId18"/>
    <p:sldId id="318" r:id="rId19"/>
    <p:sldId id="327" r:id="rId20"/>
    <p:sldId id="319" r:id="rId21"/>
    <p:sldId id="320" r:id="rId22"/>
    <p:sldId id="321" r:id="rId23"/>
    <p:sldId id="322" r:id="rId24"/>
    <p:sldId id="323" r:id="rId25"/>
    <p:sldId id="324" r:id="rId26"/>
    <p:sldId id="325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18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501473-9B9F-4B8B-978A-A7AAD88E87F6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86356E-D18B-4FAF-BA71-E8E0439D05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43572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6356E-D18B-4FAF-BA71-E8E0439D057B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96745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DF7B9-499E-4911-B587-5DAD8D9B71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8AC982-59BE-4BEA-8DA0-94295999DC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BC1282-3BF0-4F3E-9A6C-D11ED7C7E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0BD977-4FA1-4B94-8CBF-F3A26084F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F0C2DA-1020-44FE-BAC9-35AF03196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7354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3CCAC-8D75-4D4F-9FAA-E73505265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EC54F8-2717-4ECF-9EBA-7100BB31CA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9F893E-E7B1-4D49-A14B-F6ACD4105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87BA57-0A5F-47F6-A0AB-A38F3C16E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A5D578-387A-4428-BD6A-0B7F1EF06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5847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3BE4A-1383-41BB-A159-E416DCCD7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24FCBE-79C9-40A4-806A-159B6906B5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6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9310EE-3561-4A52-9A99-0185B43CF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CB6AF1-3CF5-4475-86B9-ECE27ED23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6A1A35-FEE7-405A-B535-D0236683C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7522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A6C94-2D1B-4187-A782-1285D047D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CA408E-EE94-4C8E-834A-C836B1BF33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E39177-FE52-4905-93BA-A0165C8843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CC9EA9-2151-4EA5-ABB2-FBD19D3DF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A72613-124A-4130-B3D6-B0D90B01D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78F03D-DA79-44E1-B252-CEB386C17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5858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9C1A1-52FE-4747-83C9-E4F3F0653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172C5B-66C1-4224-A800-6736E00002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9ABE2D-7BD6-464D-BCD3-CFD94058DC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C71750-7F01-4A13-A743-CEDCC27481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08A36C-4E36-4A95-823C-0954BA15EC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586924-2A36-4ACC-A0B9-D83D59482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022638-2B24-41D0-9C24-F27F1DDBF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603038-3324-4221-A2B3-210B90B14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1195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78387-0CDF-4C35-90CB-9BD598FD6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2CFD6E-B3AC-495A-B4BB-C3FED6375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6FAC63-CF75-4574-8D9E-1F12A2020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8D607C-EB65-42FB-8DF9-58B01F58B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2012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3D6CC9-8F36-4C6C-ACB7-D6FA083F0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7EE5D3-DC02-4AD1-8E68-A1CE8DFDA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11B480-0F7E-4BE1-9D72-84BF73D04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4314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67E1F-31D8-43F7-95DD-D3E979065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EF5C67-002C-487E-9C16-70EC681F98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1D2BDC-C848-43AE-98D3-244D40E221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0CC202-8480-4AE8-B24E-21438BEE7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ED43C8-5F93-4E2D-AE47-5FEC8061C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2C14E0-3426-4582-9204-3F87EB796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9012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DFDE5-780C-4F65-83B0-FF21203FB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782991-F318-4D94-A358-1A31EB1C82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FF1B62-CAC1-4245-B58A-4E819B83F6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E00AC2-BC57-4A1F-9261-058E70322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D30DCC-E746-4A92-B1E8-2C2381D7E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615E63-F3EE-42E8-99CE-FEDCD4BFF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1322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E4AA7-8017-4850-8D87-63A4FEFA4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14828B-7A87-4067-9D1E-94D6B9FDB2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A496AC-34B3-492C-AB3C-09F7D6072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6CB5E3-3938-4BCB-9063-94A032BE6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9FE353-038E-4207-BE1B-23ECDA871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0412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B41ACC-5B63-4DDA-B41E-DBFE371158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3D3BB8-2B00-46A3-8085-3FA537ABA5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C33DEA-2926-4930-A539-C61CD42F1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12CFB-63A5-4A10-9646-FB28CD4DA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613D9-7823-47BC-B9A6-A7860280D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2101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97ED9F-C20D-41F3-8EB7-2A3D8EAE4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6DFDF6-89EC-4CC7-AB4F-5AEB97F4B4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68D2C-9060-4340-AB41-BC863927F9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FF1943-155F-4632-9F42-C895115CA2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98137E-D78F-4400-8FCC-2F175AA5A2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6247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1905000"/>
            <a:ext cx="8458200" cy="1676399"/>
          </a:xfrm>
          <a:solidFill>
            <a:schemeClr val="accent4">
              <a:lumMod val="40000"/>
              <a:lumOff val="60000"/>
            </a:schemeClr>
          </a:solidFill>
          <a:ln w="76200">
            <a:solidFill>
              <a:srgbClr val="0070C0"/>
            </a:solidFill>
          </a:ln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+mn-lt"/>
              </a:rPr>
              <a:t>Software Project Management</a:t>
            </a:r>
            <a:br>
              <a:rPr lang="en-US" dirty="0"/>
            </a:b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EA8EC-5728-C27F-E50D-365598989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SYLLABUS: Module-1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F15956-0AA1-8DD7-186C-2B3E3F45E571}"/>
              </a:ext>
            </a:extLst>
          </p:cNvPr>
          <p:cNvSpPr txBox="1"/>
          <p:nvPr/>
        </p:nvSpPr>
        <p:spPr>
          <a:xfrm>
            <a:off x="639088" y="1447800"/>
            <a:ext cx="8200112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Convention of Software Management: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waterfall model, conventional software management performance.</a:t>
            </a:r>
          </a:p>
          <a:p>
            <a:pPr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Evolution of Software Economics: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economics. Pragmatic software cost estimation improving software economics.</a:t>
            </a:r>
          </a:p>
          <a:p>
            <a:pPr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Improving Software Economics: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Reducing software product size, improving software processes, improving team effectiveness, improving automation, achieving required quality, peer inspections.</a:t>
            </a:r>
          </a:p>
        </p:txBody>
      </p:sp>
    </p:spTree>
    <p:extLst>
      <p:ext uri="{BB962C8B-B14F-4D97-AF65-F5344CB8AC3E}">
        <p14:creationId xmlns:p14="http://schemas.microsoft.com/office/powerpoint/2010/main" val="24318227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-7307"/>
            <a:ext cx="7886700" cy="549272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Conventional Software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541965"/>
            <a:ext cx="8610600" cy="5349872"/>
          </a:xfrm>
        </p:spPr>
        <p:txBody>
          <a:bodyPr>
            <a:normAutofit/>
          </a:bodyPr>
          <a:lstStyle/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Conventional software performs </a:t>
            </a:r>
            <a:r>
              <a:rPr lang="en-US" altLang="en-US" sz="2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specific, well-defined tasks</a:t>
            </a:r>
            <a:r>
              <a:rPr lang="en-US" altLang="en-US" sz="2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None/>
            </a:pPr>
            <a:endParaRPr lang="en-IN" sz="2800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6504432-EC87-7411-82B4-FB9410CE0856}"/>
              </a:ext>
            </a:extLst>
          </p:cNvPr>
          <p:cNvSpPr txBox="1">
            <a:spLocks/>
          </p:cNvSpPr>
          <p:nvPr/>
        </p:nvSpPr>
        <p:spPr>
          <a:xfrm>
            <a:off x="190500" y="1698321"/>
            <a:ext cx="8686800" cy="5181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70000"/>
              </a:lnSpc>
              <a:buFont typeface="Arial" panose="020B0604020202020204" pitchFamily="34" charset="0"/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 waterfall model describes a development method that is linear and sequential. Waterfall development has distinct goals for each phase of development.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12A952-633C-4629-16B6-016DDE48E6DC}"/>
              </a:ext>
            </a:extLst>
          </p:cNvPr>
          <p:cNvSpPr txBox="1"/>
          <p:nvPr/>
        </p:nvSpPr>
        <p:spPr>
          <a:xfrm>
            <a:off x="152400" y="3182545"/>
            <a:ext cx="6749441" cy="3599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  <a:spcBef>
                <a:spcPts val="0"/>
              </a:spcBef>
              <a:buNone/>
            </a:pPr>
            <a:endParaRPr lang="en-IN" sz="24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2400" b="1" dirty="0">
                <a:solidFill>
                  <a:srgbClr val="3333CC"/>
                </a:solidFill>
                <a:latin typeface="Times New Roman" pitchFamily="18" charset="0"/>
                <a:cs typeface="Times New Roman" pitchFamily="18" charset="0"/>
              </a:rPr>
              <a:t>Waterfall model phases:</a:t>
            </a:r>
          </a:p>
          <a:p>
            <a:pPr marL="577850" indent="-577850" algn="just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Requirements</a:t>
            </a:r>
          </a:p>
          <a:p>
            <a:pPr marL="577850" indent="-577850" algn="just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Planning</a:t>
            </a:r>
          </a:p>
          <a:p>
            <a:pPr marL="577850" indent="-577850" algn="just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Design</a:t>
            </a:r>
          </a:p>
          <a:p>
            <a:pPr marL="577850" indent="-577850" algn="just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Implementation</a:t>
            </a:r>
          </a:p>
          <a:p>
            <a:pPr marL="577850" indent="-577850" algn="just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Testing</a:t>
            </a:r>
          </a:p>
          <a:p>
            <a:pPr marL="577850" indent="-577850" algn="just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Verification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0984C8-A6B7-ED30-5F03-054291C677C9}"/>
              </a:ext>
            </a:extLst>
          </p:cNvPr>
          <p:cNvSpPr txBox="1"/>
          <p:nvPr/>
        </p:nvSpPr>
        <p:spPr>
          <a:xfrm>
            <a:off x="57150" y="1450621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Waterfall model: </a:t>
            </a: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5506301-4DE6-818C-DF19-2149ECC39B4F}"/>
              </a:ext>
            </a:extLst>
          </p:cNvPr>
          <p:cNvSpPr/>
          <p:nvPr/>
        </p:nvSpPr>
        <p:spPr>
          <a:xfrm>
            <a:off x="1081414" y="906832"/>
            <a:ext cx="2667000" cy="6858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IN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Requirements</a:t>
            </a:r>
          </a:p>
          <a:p>
            <a:pPr algn="ctr"/>
            <a:endParaRPr lang="en-IN" sz="20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C419E2-DB5C-C78D-D294-04B2AE907750}"/>
              </a:ext>
            </a:extLst>
          </p:cNvPr>
          <p:cNvSpPr/>
          <p:nvPr/>
        </p:nvSpPr>
        <p:spPr>
          <a:xfrm>
            <a:off x="3062614" y="2781300"/>
            <a:ext cx="2667000" cy="6858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Design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0811BC6-AD44-3FB3-F0C4-7640EDBE16F1}"/>
              </a:ext>
            </a:extLst>
          </p:cNvPr>
          <p:cNvSpPr/>
          <p:nvPr/>
        </p:nvSpPr>
        <p:spPr>
          <a:xfrm>
            <a:off x="3977014" y="3695700"/>
            <a:ext cx="2667000" cy="6858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Implementation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8850DF-8E76-5C4C-B5F0-46CDF234FCB9}"/>
              </a:ext>
            </a:extLst>
          </p:cNvPr>
          <p:cNvSpPr/>
          <p:nvPr/>
        </p:nvSpPr>
        <p:spPr>
          <a:xfrm>
            <a:off x="4891414" y="4610100"/>
            <a:ext cx="2667000" cy="6858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Testing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F0A0E08-4D07-8119-E7AB-F5015AFBCE01}"/>
              </a:ext>
            </a:extLst>
          </p:cNvPr>
          <p:cNvSpPr/>
          <p:nvPr/>
        </p:nvSpPr>
        <p:spPr>
          <a:xfrm>
            <a:off x="5805814" y="5524500"/>
            <a:ext cx="2667000" cy="6858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Verification</a:t>
            </a:r>
          </a:p>
        </p:txBody>
      </p:sp>
      <p:cxnSp>
        <p:nvCxnSpPr>
          <p:cNvPr id="11" name="Connector: Curved 10">
            <a:extLst>
              <a:ext uri="{FF2B5EF4-FFF2-40B4-BE49-F238E27FC236}">
                <a16:creationId xmlns:a16="http://schemas.microsoft.com/office/drawing/2014/main" id="{5E246404-A31B-E6CD-7991-73AF094EC1AE}"/>
              </a:ext>
            </a:extLst>
          </p:cNvPr>
          <p:cNvCxnSpPr>
            <a:cxnSpLocks/>
          </p:cNvCxnSpPr>
          <p:nvPr/>
        </p:nvCxnSpPr>
        <p:spPr>
          <a:xfrm>
            <a:off x="4853314" y="2152650"/>
            <a:ext cx="457200" cy="571500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45C070D0-1AF6-331C-E811-0DF96B92E35E}"/>
              </a:ext>
            </a:extLst>
          </p:cNvPr>
          <p:cNvCxnSpPr>
            <a:cxnSpLocks/>
          </p:cNvCxnSpPr>
          <p:nvPr/>
        </p:nvCxnSpPr>
        <p:spPr>
          <a:xfrm>
            <a:off x="5791200" y="3009900"/>
            <a:ext cx="457200" cy="571500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40C68FE8-1A1E-B524-611E-E085E26EAC9D}"/>
              </a:ext>
            </a:extLst>
          </p:cNvPr>
          <p:cNvCxnSpPr>
            <a:cxnSpLocks/>
          </p:cNvCxnSpPr>
          <p:nvPr/>
        </p:nvCxnSpPr>
        <p:spPr>
          <a:xfrm>
            <a:off x="6682114" y="3943350"/>
            <a:ext cx="457200" cy="571500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ADA1F50E-11F7-38E2-E467-1F2D81F07325}"/>
              </a:ext>
            </a:extLst>
          </p:cNvPr>
          <p:cNvCxnSpPr>
            <a:cxnSpLocks/>
          </p:cNvCxnSpPr>
          <p:nvPr/>
        </p:nvCxnSpPr>
        <p:spPr>
          <a:xfrm>
            <a:off x="7573028" y="4876800"/>
            <a:ext cx="457200" cy="571500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83DD1327-EF3C-457F-7FA5-06F434729D0C}"/>
              </a:ext>
            </a:extLst>
          </p:cNvPr>
          <p:cNvSpPr/>
          <p:nvPr/>
        </p:nvSpPr>
        <p:spPr>
          <a:xfrm>
            <a:off x="2165959" y="1809750"/>
            <a:ext cx="2667000" cy="6858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Planning</a:t>
            </a:r>
          </a:p>
        </p:txBody>
      </p: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5B47C8EF-1F73-89CE-7980-913BF9E28EB6}"/>
              </a:ext>
            </a:extLst>
          </p:cNvPr>
          <p:cNvCxnSpPr>
            <a:cxnSpLocks/>
          </p:cNvCxnSpPr>
          <p:nvPr/>
        </p:nvCxnSpPr>
        <p:spPr>
          <a:xfrm>
            <a:off x="3748414" y="1135432"/>
            <a:ext cx="457200" cy="571500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8EA4255-97C5-E458-0EEC-3047AD153750}"/>
              </a:ext>
            </a:extLst>
          </p:cNvPr>
          <p:cNvSpPr txBox="1"/>
          <p:nvPr/>
        </p:nvSpPr>
        <p:spPr>
          <a:xfrm>
            <a:off x="0" y="200094"/>
            <a:ext cx="6972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Waterfall Model Phases: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B734A42-1DFD-A47A-6428-49584351D502}"/>
              </a:ext>
            </a:extLst>
          </p:cNvPr>
          <p:cNvCxnSpPr>
            <a:cxnSpLocks/>
          </p:cNvCxnSpPr>
          <p:nvPr/>
        </p:nvCxnSpPr>
        <p:spPr>
          <a:xfrm>
            <a:off x="4125761" y="906832"/>
            <a:ext cx="765653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4C145A3-04EC-534B-272C-5773E8E7552A}"/>
              </a:ext>
            </a:extLst>
          </p:cNvPr>
          <p:cNvSpPr txBox="1"/>
          <p:nvPr/>
        </p:nvSpPr>
        <p:spPr>
          <a:xfrm>
            <a:off x="4977009" y="681311"/>
            <a:ext cx="40239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Clearly gather and document what the system must do.</a:t>
            </a:r>
            <a:endParaRPr lang="en-IN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93E6E29-5A2A-20E7-3605-6FAE04383AD7}"/>
              </a:ext>
            </a:extLst>
          </p:cNvPr>
          <p:cNvCxnSpPr>
            <a:cxnSpLocks/>
          </p:cNvCxnSpPr>
          <p:nvPr/>
        </p:nvCxnSpPr>
        <p:spPr>
          <a:xfrm>
            <a:off x="4891414" y="1981200"/>
            <a:ext cx="594986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86F9941-47C2-1ABB-1588-FB7D43595720}"/>
              </a:ext>
            </a:extLst>
          </p:cNvPr>
          <p:cNvSpPr txBox="1"/>
          <p:nvPr/>
        </p:nvSpPr>
        <p:spPr>
          <a:xfrm>
            <a:off x="5551118" y="1645503"/>
            <a:ext cx="35928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Decide</a:t>
            </a:r>
            <a:r>
              <a:rPr lang="en-US" dirty="0"/>
              <a:t> the project schedule, resources, and overall strategy.</a:t>
            </a:r>
            <a:endParaRPr lang="en-IN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4AAF5AB-654C-30A7-BE1E-FA965744BF6C}"/>
              </a:ext>
            </a:extLst>
          </p:cNvPr>
          <p:cNvCxnSpPr>
            <a:cxnSpLocks/>
          </p:cNvCxnSpPr>
          <p:nvPr/>
        </p:nvCxnSpPr>
        <p:spPr>
          <a:xfrm>
            <a:off x="5805814" y="2895600"/>
            <a:ext cx="594986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7BDB593-CFEF-CDA9-655D-7E96DF7BD89E}"/>
              </a:ext>
            </a:extLst>
          </p:cNvPr>
          <p:cNvSpPr txBox="1"/>
          <p:nvPr/>
        </p:nvSpPr>
        <p:spPr>
          <a:xfrm>
            <a:off x="6498921" y="2543770"/>
            <a:ext cx="260541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Create the architecture and blueprint of how the system will work.</a:t>
            </a:r>
            <a:endParaRPr lang="en-IN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0EBD86C-BFCF-9EAC-491D-2B088D189E9C}"/>
              </a:ext>
            </a:extLst>
          </p:cNvPr>
          <p:cNvCxnSpPr>
            <a:cxnSpLocks/>
          </p:cNvCxnSpPr>
          <p:nvPr/>
        </p:nvCxnSpPr>
        <p:spPr>
          <a:xfrm>
            <a:off x="3296172" y="3943350"/>
            <a:ext cx="594986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0B6EC189-CD0C-85EA-DD3B-7A350282F589}"/>
              </a:ext>
            </a:extLst>
          </p:cNvPr>
          <p:cNvSpPr txBox="1"/>
          <p:nvPr/>
        </p:nvSpPr>
        <p:spPr>
          <a:xfrm>
            <a:off x="175626" y="3715434"/>
            <a:ext cx="31549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Write 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the</a:t>
            </a:r>
            <a:r>
              <a:rPr lang="en-US" dirty="0"/>
              <a:t> actual code based on the design.</a:t>
            </a:r>
            <a:endParaRPr lang="en-IN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82AFD76-D240-0919-5592-60613DD892B7}"/>
              </a:ext>
            </a:extLst>
          </p:cNvPr>
          <p:cNvCxnSpPr>
            <a:cxnSpLocks/>
          </p:cNvCxnSpPr>
          <p:nvPr/>
        </p:nvCxnSpPr>
        <p:spPr>
          <a:xfrm>
            <a:off x="4296428" y="4826435"/>
            <a:ext cx="594986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C5BF044E-1550-7CFB-EBAC-AEA7774E62E6}"/>
              </a:ext>
            </a:extLst>
          </p:cNvPr>
          <p:cNvSpPr txBox="1"/>
          <p:nvPr/>
        </p:nvSpPr>
        <p:spPr>
          <a:xfrm>
            <a:off x="405009" y="4644686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Check the system for errors, bugs, and functionality issues.</a:t>
            </a:r>
            <a:endParaRPr lang="en-IN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7148698-5B0C-F179-D644-A59CEF6CFE7A}"/>
              </a:ext>
            </a:extLst>
          </p:cNvPr>
          <p:cNvCxnSpPr>
            <a:cxnSpLocks/>
          </p:cNvCxnSpPr>
          <p:nvPr/>
        </p:nvCxnSpPr>
        <p:spPr>
          <a:xfrm>
            <a:off x="5253625" y="5715000"/>
            <a:ext cx="594986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8C757131-6100-6B34-CDD3-2AAA1121659B}"/>
              </a:ext>
            </a:extLst>
          </p:cNvPr>
          <p:cNvSpPr txBox="1"/>
          <p:nvPr/>
        </p:nvSpPr>
        <p:spPr>
          <a:xfrm>
            <a:off x="1441537" y="5529295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Ensure the final product meets all requirements and works as expected.</a:t>
            </a:r>
            <a:endParaRPr lang="en-IN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idx="1"/>
          </p:nvPr>
        </p:nvSpPr>
        <p:spPr>
          <a:xfrm>
            <a:off x="533400" y="304800"/>
            <a:ext cx="8305800" cy="571500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itchFamily="18" charset="0"/>
              </a:rPr>
              <a:t>Advantages of waterfall model: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Simple and easy to understand.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Easy to manage because each phase is clearly defined.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Works well for small projects with clear requirements.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Phases are completed one at a time (no overlap).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itchFamily="18" charset="0"/>
              </a:rPr>
              <a:t>Disadvantages of waterfall model: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Hard to go back and make changes after testing begins.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Working software appears very late in the cycle.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 risk and uncertainty.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 suitable for complex or long-term projects.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 good when requirements may change.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28600" y="-304800"/>
            <a:ext cx="9601200" cy="1295400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Conventional Software Management Performance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42BAEA-859B-906F-480F-842E03A99A47}"/>
              </a:ext>
            </a:extLst>
          </p:cNvPr>
          <p:cNvSpPr txBox="1"/>
          <p:nvPr/>
        </p:nvSpPr>
        <p:spPr>
          <a:xfrm>
            <a:off x="132408" y="663879"/>
            <a:ext cx="893539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development is highly unpredictable; only 10% of projects meet original budget &amp; schedule.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 discipline impacts success more than technology.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amount of software scrap &amp; rework → industry still immature.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software project success rate is very low.</a:t>
            </a:r>
          </a:p>
        </p:txBody>
      </p:sp>
      <p:pic>
        <p:nvPicPr>
          <p:cNvPr id="2051" name="Picture 3" descr="Conventional Software Management | Sakshi Education">
            <a:extLst>
              <a:ext uri="{FF2B5EF4-FFF2-40B4-BE49-F238E27FC236}">
                <a16:creationId xmlns:a16="http://schemas.microsoft.com/office/drawing/2014/main" id="{8FF3C23D-D6AC-2157-A2EC-30F6B490F04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566"/>
          <a:stretch>
            <a:fillRect/>
          </a:stretch>
        </p:blipFill>
        <p:spPr bwMode="auto">
          <a:xfrm>
            <a:off x="38100" y="2915335"/>
            <a:ext cx="9067800" cy="3904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FC8413E-5342-CCC3-DD20-1EC544BF1271}"/>
              </a:ext>
            </a:extLst>
          </p:cNvPr>
          <p:cNvCxnSpPr>
            <a:cxnSpLocks/>
          </p:cNvCxnSpPr>
          <p:nvPr/>
        </p:nvCxnSpPr>
        <p:spPr>
          <a:xfrm flipV="1">
            <a:off x="1600200" y="3429000"/>
            <a:ext cx="304800" cy="8382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7B5C2AF-1879-F90B-F3F8-B661D5CE05F4}"/>
              </a:ext>
            </a:extLst>
          </p:cNvPr>
          <p:cNvSpPr txBox="1"/>
          <p:nvPr/>
        </p:nvSpPr>
        <p:spPr>
          <a:xfrm>
            <a:off x="1219200" y="2616350"/>
            <a:ext cx="2286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dirty="0">
                <a:solidFill>
                  <a:srgbClr val="0F1115"/>
                </a:solidFill>
                <a:effectLst/>
                <a:latin typeface="Modern No. 20" panose="02070704070505020303" pitchFamily="18" charset="0"/>
              </a:rPr>
              <a:t>Initial project vision, scope definition, business case development.</a:t>
            </a:r>
            <a:endParaRPr lang="en-IN" sz="1400" dirty="0">
              <a:latin typeface="Modern No. 20" panose="02070704070505020303" pitchFamily="18" charset="0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7C1098F-E711-3801-2130-9A4E0FF50BA9}"/>
              </a:ext>
            </a:extLst>
          </p:cNvPr>
          <p:cNvCxnSpPr>
            <a:cxnSpLocks/>
          </p:cNvCxnSpPr>
          <p:nvPr/>
        </p:nvCxnSpPr>
        <p:spPr>
          <a:xfrm flipV="1">
            <a:off x="4114800" y="3733800"/>
            <a:ext cx="0" cy="7620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5E217671-25F0-CD9D-114C-5C7EE600066A}"/>
              </a:ext>
            </a:extLst>
          </p:cNvPr>
          <p:cNvSpPr txBox="1"/>
          <p:nvPr/>
        </p:nvSpPr>
        <p:spPr>
          <a:xfrm>
            <a:off x="3409950" y="2671428"/>
            <a:ext cx="22479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dirty="0">
                <a:solidFill>
                  <a:srgbClr val="0F1115"/>
                </a:solidFill>
                <a:effectLst/>
                <a:latin typeface="Modern No. 20" panose="02070704070505020303" pitchFamily="18" charset="0"/>
              </a:rPr>
              <a:t>Architecture design, risk resolution, detailed planning, and building the core structure</a:t>
            </a:r>
            <a:endParaRPr lang="en-IN" sz="1400" dirty="0">
              <a:latin typeface="Modern No. 20" panose="02070704070505020303" pitchFamily="18" charset="0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B4250CF-F287-E585-5A02-36BDE3ECB3B4}"/>
              </a:ext>
            </a:extLst>
          </p:cNvPr>
          <p:cNvCxnSpPr>
            <a:cxnSpLocks/>
          </p:cNvCxnSpPr>
          <p:nvPr/>
        </p:nvCxnSpPr>
        <p:spPr>
          <a:xfrm flipV="1">
            <a:off x="7086600" y="3903133"/>
            <a:ext cx="0" cy="7620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D9B6827-6CAC-7AD2-278B-B583DE818F46}"/>
              </a:ext>
            </a:extLst>
          </p:cNvPr>
          <p:cNvSpPr txBox="1"/>
          <p:nvPr/>
        </p:nvSpPr>
        <p:spPr>
          <a:xfrm>
            <a:off x="6615643" y="2616350"/>
            <a:ext cx="236008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dirty="0">
                <a:solidFill>
                  <a:srgbClr val="0F1115"/>
                </a:solidFill>
                <a:effectLst/>
                <a:latin typeface="Modern No. 20" panose="02070704070505020303" pitchFamily="18" charset="0"/>
              </a:rPr>
              <a:t>Building the product features, iterative development, and component implementation</a:t>
            </a:r>
            <a:endParaRPr lang="en-IN" sz="1600" dirty="0">
              <a:latin typeface="Modern No. 20" panose="02070704070505020303" pitchFamily="18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91DBAA6-527A-38AB-D88B-748C9B499701}"/>
              </a:ext>
            </a:extLst>
          </p:cNvPr>
          <p:cNvCxnSpPr>
            <a:cxnSpLocks/>
          </p:cNvCxnSpPr>
          <p:nvPr/>
        </p:nvCxnSpPr>
        <p:spPr>
          <a:xfrm flipV="1">
            <a:off x="7543800" y="4665133"/>
            <a:ext cx="0" cy="7620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A6F28A3E-BEF0-27C7-A97F-835E78A7A614}"/>
              </a:ext>
            </a:extLst>
          </p:cNvPr>
          <p:cNvSpPr txBox="1"/>
          <p:nvPr/>
        </p:nvSpPr>
        <p:spPr>
          <a:xfrm>
            <a:off x="6615643" y="5389539"/>
            <a:ext cx="214735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dirty="0">
                <a:solidFill>
                  <a:srgbClr val="0F1115"/>
                </a:solidFill>
                <a:effectLst/>
                <a:latin typeface="Modern No. 20" panose="02070704070505020303" pitchFamily="18" charset="0"/>
              </a:rPr>
              <a:t>Deployment to users, training, support transition, and final adjustments</a:t>
            </a:r>
            <a:endParaRPr lang="en-IN" sz="1600" dirty="0">
              <a:latin typeface="Modern No. 20" panose="02070704070505020303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CC53DE7-2E9C-2FA3-B20A-DE5C950343A2}"/>
              </a:ext>
            </a:extLst>
          </p:cNvPr>
          <p:cNvSpPr/>
          <p:nvPr/>
        </p:nvSpPr>
        <p:spPr>
          <a:xfrm>
            <a:off x="-46080" y="2876479"/>
            <a:ext cx="762000" cy="8381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+4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3D7663-3913-8DB8-F1C9-A59FEC920A2C}"/>
              </a:ext>
            </a:extLst>
          </p:cNvPr>
          <p:cNvSpPr/>
          <p:nvPr/>
        </p:nvSpPr>
        <p:spPr>
          <a:xfrm>
            <a:off x="-76200" y="5928148"/>
            <a:ext cx="762000" cy="8381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-4</a:t>
            </a:r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481A327-50E4-A49A-6151-6F12EB3727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0"/>
            <a:ext cx="3124200" cy="6770246"/>
          </a:xfrm>
        </p:spPr>
      </p:pic>
    </p:spTree>
    <p:extLst>
      <p:ext uri="{BB962C8B-B14F-4D97-AF65-F5344CB8AC3E}">
        <p14:creationId xmlns:p14="http://schemas.microsoft.com/office/powerpoint/2010/main" val="1735014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228600"/>
            <a:ext cx="8991600" cy="609600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Important Points from Barry Boehm’s Top 10 Software Metrics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Fixing bugs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after delivery costs 100× more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 fixing them during design.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development schedules can be compressed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only up to 25%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not more.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every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$1 spent on development, $2 is spent on maintenance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depends mainly on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 of source lines of code (SLOC)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People differences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the biggest variation in software productivity.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cost ratio is increasing: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1955 → 15% software | 1985 → 85% software</a:t>
            </a:r>
            <a:endParaRPr lang="en-US" sz="2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15%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development effort is actual programming.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systems cost 3×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system-of-systems cost 9×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per SLOC.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Walkthroughs catch 60%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errors.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80%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comes from 20% contributors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(Pareto Principle).</a:t>
            </a:r>
          </a:p>
          <a:p>
            <a:pPr>
              <a:buNone/>
            </a:pPr>
            <a:endParaRPr lang="en-IN" sz="2400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828800" y="0"/>
            <a:ext cx="7772400" cy="762000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Software Economics: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C9EE9F-47FF-7FF9-20AA-0446FB14610D}"/>
              </a:ext>
            </a:extLst>
          </p:cNvPr>
          <p:cNvSpPr txBox="1"/>
          <p:nvPr/>
        </p:nvSpPr>
        <p:spPr>
          <a:xfrm>
            <a:off x="152400" y="685800"/>
            <a:ext cx="8763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The process of counting function points, gathering data, </a:t>
            </a:r>
            <a:r>
              <a:rPr lang="en-IN" sz="2400" dirty="0" err="1">
                <a:latin typeface="Times New Roman" pitchFamily="18" charset="0"/>
                <a:cs typeface="Times New Roman" pitchFamily="18" charset="0"/>
              </a:rPr>
              <a:t>analyzing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 data is commonly referred to as Software Metrics, but in reality is a branch of economics which should be called Software Economics.</a:t>
            </a:r>
          </a:p>
          <a:p>
            <a:endParaRPr lang="en-IN" sz="2400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AFB86694-76E4-5DC5-B477-742FA8E2513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295400" y="2111053"/>
            <a:ext cx="5791200" cy="40538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76200"/>
            <a:ext cx="8686800" cy="6705600"/>
          </a:xfrm>
        </p:spPr>
        <p:txBody>
          <a:bodyPr>
            <a:noAutofit/>
          </a:bodyPr>
          <a:lstStyle/>
          <a:p>
            <a:pPr algn="just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IN" sz="2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Software Economics </a:t>
            </a:r>
            <a:r>
              <a:rPr lang="en-IN" sz="2600" dirty="0">
                <a:latin typeface="Times New Roman" pitchFamily="18" charset="0"/>
                <a:cs typeface="Times New Roman" pitchFamily="18" charset="0"/>
              </a:rPr>
              <a:t>examines the entire idea of software development and it includes many different disciplines.</a:t>
            </a:r>
          </a:p>
          <a:p>
            <a:pPr algn="just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IN" sz="2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Psychology</a:t>
            </a:r>
            <a:r>
              <a:rPr lang="en-IN" sz="2600" dirty="0">
                <a:latin typeface="Times New Roman" pitchFamily="18" charset="0"/>
                <a:cs typeface="Times New Roman" pitchFamily="18" charset="0"/>
              </a:rPr>
              <a:t> - focuses on the study of behaviour and the reward/punishment model. "What get's rewarded gets done."</a:t>
            </a:r>
          </a:p>
          <a:p>
            <a:pPr algn="just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IN" sz="2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Social Psychology</a:t>
            </a:r>
            <a:r>
              <a:rPr lang="en-IN" sz="2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IN" sz="2600" dirty="0">
                <a:latin typeface="Times New Roman" pitchFamily="18" charset="0"/>
                <a:cs typeface="Times New Roman" pitchFamily="18" charset="0"/>
              </a:rPr>
              <a:t>- focuses on how people behave in an organization, quality of work life, and peer pressures.</a:t>
            </a:r>
          </a:p>
          <a:p>
            <a:pPr algn="just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IN" sz="2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Organizational Behaviour</a:t>
            </a:r>
            <a:r>
              <a:rPr lang="en-IN" sz="2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600" dirty="0">
                <a:latin typeface="Times New Roman" pitchFamily="18" charset="0"/>
                <a:cs typeface="Times New Roman" pitchFamily="18" charset="0"/>
              </a:rPr>
              <a:t>- is the process of analyzing the structure of an organization to understand those structural issues impacting organizational productivity and quality.</a:t>
            </a:r>
          </a:p>
          <a:p>
            <a:pPr algn="just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IN" sz="2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Economics</a:t>
            </a:r>
            <a:r>
              <a:rPr lang="en-IN" sz="2600" dirty="0">
                <a:latin typeface="Times New Roman" pitchFamily="18" charset="0"/>
                <a:cs typeface="Times New Roman" pitchFamily="18" charset="0"/>
              </a:rPr>
              <a:t> - the study of prices, costs, and scarcity.</a:t>
            </a:r>
          </a:p>
          <a:p>
            <a:pPr algn="just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IN" sz="2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Statistics</a:t>
            </a:r>
            <a:r>
              <a:rPr lang="en-IN" sz="2600" dirty="0">
                <a:latin typeface="Times New Roman" pitchFamily="18" charset="0"/>
                <a:cs typeface="Times New Roman" pitchFamily="18" charset="0"/>
              </a:rPr>
              <a:t> - deals with quantitative and qualitative techniques for the collection of data, how data is analyzed, and how results are presented.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endParaRPr lang="en-IN" sz="2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304800"/>
            <a:ext cx="8991600" cy="57150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I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itchFamily="18" charset="0"/>
              </a:rPr>
              <a:t>Software cost Model can be abstracted into a function of five basic parameters:</a:t>
            </a:r>
          </a:p>
          <a:p>
            <a:pPr marL="0" indent="0" algn="just">
              <a:buNone/>
            </a:pPr>
            <a:endParaRPr lang="en-IN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itchFamily="18" charset="0"/>
            </a:endParaRP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Size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measured in SLOC or function points.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2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Process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efficiency of the development process (less rework, fewer delays).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3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Personnel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skills and experience of developers.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4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Environment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tools and techniques supporting development.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5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Quality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features, performance, reliability, flexibility of the software.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These parameters determine the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effort and cost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a project.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Cost estimation formula:</a:t>
            </a:r>
            <a:b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Effort = (Personnel) × (Environment) × (Quality) × (</a:t>
            </a:r>
            <a:r>
              <a:rPr lang="en-US" altLang="en-US" sz="2400" b="1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Size^Process</a:t>
            </a:r>
            <a:r>
              <a:rPr lang="en-US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en-US" sz="24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IN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8CB36AF-941A-A070-0748-95D4B2A3C35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2025" y="-457200"/>
            <a:ext cx="9746841" cy="5715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A60CFFB-BAD2-AE76-869E-91172DAF981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600" y="4723356"/>
            <a:ext cx="2971800" cy="2097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6727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609600"/>
          </a:xfrm>
        </p:spPr>
        <p:txBody>
          <a:bodyPr>
            <a:noAutofit/>
          </a:bodyPr>
          <a:lstStyle/>
          <a:p>
            <a:pPr algn="ctr"/>
            <a:br>
              <a:rPr lang="en-IN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en-IN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en-IN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IN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Pragmatic Software Cost Estimation</a:t>
            </a:r>
            <a:br>
              <a:rPr lang="en-IN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en-IN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en-IN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IN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143000"/>
            <a:ext cx="8305800" cy="50292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One critical problem in software cost estimation is a lack of well-documented case studies of projects that used an iterative development approach.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Selection of a Cost estimation Model to be used.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Selection of a Measuring Unit to Measure the Size of the software.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Selection of a Tool of Metric that will set up a Good Estimate.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33400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Selection of Cost Estimation Model: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Choose the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estimation model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Waterfall model is widely used.</a:t>
            </a:r>
          </a:p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è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Waterfall model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Steps</a:t>
            </a:r>
          </a:p>
          <a:p>
            <a:pPr marL="0" indent="0">
              <a:buNone/>
            </a:pP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  <a:b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Write down what the software should do.</a:t>
            </a:r>
          </a:p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  <a:b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Plan how the software will be built.</a:t>
            </a:r>
          </a:p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b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Write the code.</a:t>
            </a:r>
          </a:p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</a:t>
            </a:r>
            <a:b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Check if it works correctly.</a:t>
            </a:r>
          </a:p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</a:t>
            </a:r>
            <a:b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Release it to users.</a:t>
            </a:r>
          </a:p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Maintenance</a:t>
            </a:r>
            <a:b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Fix issues and make updates.</a:t>
            </a:r>
          </a:p>
          <a:p>
            <a:pPr marL="0" indent="0">
              <a:buNone/>
            </a:pP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800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E6FD0B7-E59D-02EF-51A7-C86C377ECFF6}"/>
              </a:ext>
            </a:extLst>
          </p:cNvPr>
          <p:cNvSpPr txBox="1"/>
          <p:nvPr/>
        </p:nvSpPr>
        <p:spPr>
          <a:xfrm>
            <a:off x="457200" y="382012"/>
            <a:ext cx="784860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Selection of Measuring Unit: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size can be measured using: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Lines of Code (SLOC)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Points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Subjective /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adhoc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estimates</a:t>
            </a:r>
          </a:p>
          <a:p>
            <a:pPr marL="914400" lvl="1" indent="-457200"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304F09-EF31-BFE4-0D4C-4BB798E99FA8}"/>
              </a:ext>
            </a:extLst>
          </p:cNvPr>
          <p:cNvSpPr txBox="1"/>
          <p:nvPr/>
        </p:nvSpPr>
        <p:spPr>
          <a:xfrm>
            <a:off x="609600" y="2743200"/>
            <a:ext cx="74676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Selection of Tool or Metric: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 estimation depends on: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manager, architect, development &amp; testing team input.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 accepted by stakeholders as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realistic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well-defined cost model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Past project experience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14982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42C13-AC41-758A-5D6E-62E38BC3A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-228600"/>
            <a:ext cx="7886700" cy="1325563"/>
          </a:xfrm>
        </p:spPr>
        <p:txBody>
          <a:bodyPr/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Reducing software product size: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F55EF9-C29E-A114-E3EA-1B55DCFD36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762000"/>
            <a:ext cx="86868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Reducing software product size means that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minimizing code and features through techniques like component reuse, object-oriented programming, automatic code generation, and scope management.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1D60E6-C9B6-8332-CD93-08CBCE2B5440}"/>
              </a:ext>
            </a:extLst>
          </p:cNvPr>
          <p:cNvSpPr txBox="1"/>
          <p:nvPr/>
        </p:nvSpPr>
        <p:spPr>
          <a:xfrm>
            <a:off x="228600" y="2087563"/>
            <a:ext cx="8915400" cy="4585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Software Size Metrics:</a:t>
            </a:r>
          </a:p>
          <a:p>
            <a:pPr marL="457200" indent="-457200">
              <a:buAutoNum type="arabicPeriod"/>
            </a:pPr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Size Metrics: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Measures size based on functionality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 Point (FP)</a:t>
            </a: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Language-independent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Size Metrics: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Measures size based on lines of code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 Lines of Code (SLOC)</a:t>
            </a: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Language dependent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Metrics: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 FP and SLOC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compare productivity across languages</a:t>
            </a:r>
          </a:p>
        </p:txBody>
      </p:sp>
    </p:spTree>
    <p:extLst>
      <p:ext uri="{BB962C8B-B14F-4D97-AF65-F5344CB8AC3E}">
        <p14:creationId xmlns:p14="http://schemas.microsoft.com/office/powerpoint/2010/main" val="4488382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52FE3-E014-4E3C-CFCD-52D210037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52" y="-228600"/>
            <a:ext cx="7886700" cy="1325563"/>
          </a:xfrm>
        </p:spPr>
        <p:txBody>
          <a:bodyPr/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Improving Software Processes: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9F8CC2-FA44-191C-F33C-2DA9185C4D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500" y="762000"/>
            <a:ext cx="8763000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Improvement Software processes is a systematic approach to enhancing software development and maintenance by refining processes to boost quality, efficiency, and effectiveness. 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ECEAF0-39F9-EBC2-8F74-ED476FC80DA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074" y="1946105"/>
            <a:ext cx="8521874" cy="49640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EB5CF86-57FC-9FCC-E389-E637CE1DF33B}"/>
              </a:ext>
            </a:extLst>
          </p:cNvPr>
          <p:cNvSpPr txBox="1"/>
          <p:nvPr/>
        </p:nvSpPr>
        <p:spPr>
          <a:xfrm>
            <a:off x="190500" y="1906651"/>
            <a:ext cx="2781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A061D2-96E6-9BEC-786F-30AB933E0589}"/>
              </a:ext>
            </a:extLst>
          </p:cNvPr>
          <p:cNvSpPr txBox="1"/>
          <p:nvPr/>
        </p:nvSpPr>
        <p:spPr>
          <a:xfrm>
            <a:off x="8407574" y="4998903"/>
            <a:ext cx="419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err="1"/>
              <a:t>te</a:t>
            </a:r>
            <a:endParaRPr lang="en-IN" sz="140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A9B91E8-CFFE-3C67-AF2E-923CA703BC7F}"/>
              </a:ext>
            </a:extLst>
          </p:cNvPr>
          <p:cNvSpPr/>
          <p:nvPr/>
        </p:nvSpPr>
        <p:spPr>
          <a:xfrm>
            <a:off x="662512" y="2991379"/>
            <a:ext cx="533400" cy="496359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lang="en-IN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93BC00C-0508-8A9E-F94C-E280C18FA5A5}"/>
              </a:ext>
            </a:extLst>
          </p:cNvPr>
          <p:cNvSpPr/>
          <p:nvPr/>
        </p:nvSpPr>
        <p:spPr>
          <a:xfrm>
            <a:off x="3352800" y="2971799"/>
            <a:ext cx="533400" cy="496359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endParaRPr lang="en-IN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5451E96-E021-00D1-9875-70C099250A6F}"/>
              </a:ext>
            </a:extLst>
          </p:cNvPr>
          <p:cNvSpPr/>
          <p:nvPr/>
        </p:nvSpPr>
        <p:spPr>
          <a:xfrm>
            <a:off x="6324600" y="2997475"/>
            <a:ext cx="533400" cy="496359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58801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80065-C460-06BB-B31C-4705A4FF9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04800"/>
            <a:ext cx="7886700" cy="1325563"/>
          </a:xfrm>
        </p:spPr>
        <p:txBody>
          <a:bodyPr/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Improving team effectiveness: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3F8D2-0FA5-A666-9F52-8A9A356CAE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762000"/>
            <a:ext cx="8610600" cy="5638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software team effectiveness, set clear goals, define roles and responsibilities, and foster a collaborative and supportive environment with open communication. 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Crowd, Group, Team: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Crowd: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Random people with no common goal.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People with a shared purpose but working mostly individually.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People working together with coordination toward a common goal.</a:t>
            </a:r>
          </a:p>
          <a:p>
            <a:pPr marL="457200" indent="-457200"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Improving Team Effectiveness: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People differences affect productivity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Best practical approach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Coverage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99047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flowchart&#10;&#10;AI-generated content may be incorrect.">
            <a:extLst>
              <a:ext uri="{FF2B5EF4-FFF2-40B4-BE49-F238E27FC236}">
                <a16:creationId xmlns:a16="http://schemas.microsoft.com/office/drawing/2014/main" id="{89904D80-DBDA-D722-C761-6DB4C8AC2D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400" y="-25096"/>
            <a:ext cx="3886200" cy="6908192"/>
          </a:xfrm>
        </p:spPr>
      </p:pic>
    </p:spTree>
    <p:extLst>
      <p:ext uri="{BB962C8B-B14F-4D97-AF65-F5344CB8AC3E}">
        <p14:creationId xmlns:p14="http://schemas.microsoft.com/office/powerpoint/2010/main" val="36027581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2A93A31-7BBE-7333-C579-AE3120918CA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0" y="1143000"/>
            <a:ext cx="6342732" cy="4140200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8F7D4C36-3FAB-51C8-341A-DD6B991CA3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5186064"/>
            <a:ext cx="891540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Build a team with 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right people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in 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right roles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with 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right balance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Good team management increases productivity and reduces project risks.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Removing weak or unfit team members keeps the team healthy and efficient.</a:t>
            </a:r>
          </a:p>
        </p:txBody>
      </p:sp>
    </p:spTree>
    <p:extLst>
      <p:ext uri="{BB962C8B-B14F-4D97-AF65-F5344CB8AC3E}">
        <p14:creationId xmlns:p14="http://schemas.microsoft.com/office/powerpoint/2010/main" val="17149032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00F5D-81D2-3D34-8159-2BC76CE35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04800"/>
            <a:ext cx="7886700" cy="1325563"/>
          </a:xfrm>
        </p:spPr>
        <p:txBody>
          <a:bodyPr/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Improving automation: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6E2F12-5092-87C5-7BC5-76AD88568B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500" y="685800"/>
            <a:ext cx="8534400" cy="4351338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automation in software project management, start small by automating repetitive tasks like reminders, reporting, and approvals, focusing on clear goals (efficiency, accuracy).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B7DBDD-7DF2-AD0B-1182-F07234CD11B6}"/>
              </a:ext>
            </a:extLst>
          </p:cNvPr>
          <p:cNvSpPr txBox="1"/>
          <p:nvPr/>
        </p:nvSpPr>
        <p:spPr>
          <a:xfrm>
            <a:off x="254000" y="2286000"/>
            <a:ext cx="868680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Tools and environments increase productivity: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Planning tools, modeling tools, compilers, debuggers, QA tools, testing tools. These tools help automate software engineering tasks and reduce manual effort.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Automation reduces effort significantly: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Tools and automation can improve productivity by 20% to 40%.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  <a:defRPr/>
            </a:pPr>
            <a:endParaRPr lang="en-US" altLang="en-U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Main benefits of process automation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scrap and rework (fixing late mistakes).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number of iterations in the process.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efficiency by automating error-prone or slow manual tasks.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35587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804E1-1388-C872-8A57-5BBAB886FD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304800"/>
            <a:ext cx="8839200" cy="6553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Need for a mature, integrated environment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mature environment helps manage: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Concurrent activities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Quality assessment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Progress tracking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Semantic integration improves results: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 environment understands the meaning of artifacts (requirements, models, code), it: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productivity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software quality</a:t>
            </a:r>
          </a:p>
          <a:p>
            <a:pPr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Features of strong automated environments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incremental compilation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builds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regression testing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74812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7AA2A8-C939-6DA5-8963-94C910DD2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457200"/>
            <a:ext cx="86868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Typical resource consumption in projects (important)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values show why automation is important: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 + evolution →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40%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cost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→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50%+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resources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Coding + unit testing →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50%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development effort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→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 to 50%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project resources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 management →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 to 25%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Documentation →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30%+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management &amp; admin →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 to 30%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67028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C707A-3087-6696-C474-9BA5F2A5A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28600"/>
            <a:ext cx="7886700" cy="1325563"/>
          </a:xfrm>
        </p:spPr>
        <p:txBody>
          <a:bodyPr/>
          <a:lstStyle/>
          <a:p>
            <a:r>
              <a:rPr lang="en-IN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Achieving required quality: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81614-0C92-1252-6BED-25C42A3AA9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914400"/>
            <a:ext cx="8382000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Achieving software quality in project management means integrating Quality Planning, Assurance, and Control throughout the project lifecycle, focusing on clear requirements, continuous testing (especially automation).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4A404D-04B0-F104-E24D-721D230B89B1}"/>
              </a:ext>
            </a:extLst>
          </p:cNvPr>
          <p:cNvSpPr txBox="1"/>
          <p:nvPr/>
        </p:nvSpPr>
        <p:spPr>
          <a:xfrm>
            <a:off x="292100" y="1973282"/>
            <a:ext cx="8851900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practices that improve software quality: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on requirements early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make sure they are complete and traceable.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 effort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across requirements, design, evolution, and planning.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metrics and indicators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track architecture quality and project progress.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integrated life-cycle tools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support: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 management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 management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higher-level modeling languages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support: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Abstraction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Reliable programming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Self-documentation</a:t>
            </a:r>
          </a:p>
        </p:txBody>
      </p:sp>
    </p:spTree>
    <p:extLst>
      <p:ext uri="{BB962C8B-B14F-4D97-AF65-F5344CB8AC3E}">
        <p14:creationId xmlns:p14="http://schemas.microsoft.com/office/powerpoint/2010/main" val="24227594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090AF-C829-545D-B02B-B66757AE1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-228600"/>
            <a:ext cx="7886700" cy="1325563"/>
          </a:xfrm>
        </p:spPr>
        <p:txBody>
          <a:bodyPr/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Peer inspections: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CFB70C-3861-4AC9-BA7E-874878B56B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914400"/>
            <a:ext cx="8610600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Peer inspection is a quality assurance practice in software project management where team members review each other's work to find defects, improve quality, and share knowledge.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Quality Mechanisms: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4129E5-E324-CF7D-2080-3C0084C2FABA}"/>
              </a:ext>
            </a:extLst>
          </p:cNvPr>
          <p:cNvSpPr txBox="1"/>
          <p:nvPr/>
        </p:nvSpPr>
        <p:spPr>
          <a:xfrm>
            <a:off x="228600" y="1841242"/>
            <a:ext cx="8215313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Transitioning engineering information: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Moving artifacts from one stage to another to check: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Consistency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Understandability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constraints</a:t>
            </a:r>
          </a:p>
          <a:p>
            <a:pPr lvl="1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Major milestone demonstrations: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Checking artifacts using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use cases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 criteria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Environment tools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compilers, debuggers, analyzers, automated tests for: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Completeness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Consistency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 control</a:t>
            </a:r>
          </a:p>
        </p:txBody>
      </p:sp>
    </p:spTree>
    <p:extLst>
      <p:ext uri="{BB962C8B-B14F-4D97-AF65-F5344CB8AC3E}">
        <p14:creationId xmlns:p14="http://schemas.microsoft.com/office/powerpoint/2010/main" val="38825902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965E6DE-693C-982A-23E1-1C2687CA55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0" y="-137587"/>
            <a:ext cx="5638800" cy="7133173"/>
          </a:xfr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F271664-D6AB-EBF4-BCA7-D009DE752D27}"/>
              </a:ext>
            </a:extLst>
          </p:cNvPr>
          <p:cNvSpPr txBox="1"/>
          <p:nvPr/>
        </p:nvSpPr>
        <p:spPr>
          <a:xfrm>
            <a:off x="152400" y="1524000"/>
            <a:ext cx="34290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Life Cycle testing: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testing understand:</a:t>
            </a:r>
          </a:p>
          <a:p>
            <a:pPr marL="342900" indent="-342900"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Trade-offs.</a:t>
            </a:r>
          </a:p>
          <a:p>
            <a:pPr marL="342900" indent="-342900"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Acceptance criteria.</a:t>
            </a:r>
          </a:p>
          <a:p>
            <a:pPr marL="342900" indent="-342900"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 compliance.</a:t>
            </a:r>
          </a:p>
          <a:p>
            <a:pPr marL="342900" indent="-342900"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Change management metrics: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Tracking changes to ensure:</a:t>
            </a:r>
          </a:p>
          <a:p>
            <a:pPr marL="342900" indent="-342900"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Quality trends.</a:t>
            </a:r>
          </a:p>
          <a:p>
            <a:pPr marL="342900" indent="-342900"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stability.</a:t>
            </a:r>
          </a:p>
          <a:p>
            <a:pPr marL="342900" indent="-342900"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Progress towards goals.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9671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2489</TotalTime>
  <Words>1760</Words>
  <Application>Microsoft Office PowerPoint</Application>
  <PresentationFormat>On-screen Show (4:3)</PresentationFormat>
  <Paragraphs>226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Arial</vt:lpstr>
      <vt:lpstr>Calibri</vt:lpstr>
      <vt:lpstr>Calibri Light</vt:lpstr>
      <vt:lpstr>Cambria Math</vt:lpstr>
      <vt:lpstr>Modern No. 20</vt:lpstr>
      <vt:lpstr>Times New Roman</vt:lpstr>
      <vt:lpstr>Wingdings</vt:lpstr>
      <vt:lpstr>Office Theme</vt:lpstr>
      <vt:lpstr>Software Project Management </vt:lpstr>
      <vt:lpstr>SYLLABUS: Module-1</vt:lpstr>
      <vt:lpstr>Conventional Software Management</vt:lpstr>
      <vt:lpstr>PowerPoint Presentation</vt:lpstr>
      <vt:lpstr>PowerPoint Presentation</vt:lpstr>
      <vt:lpstr>Conventional Software Management Performance</vt:lpstr>
      <vt:lpstr>PowerPoint Presentation</vt:lpstr>
      <vt:lpstr>PowerPoint Presentation</vt:lpstr>
      <vt:lpstr>Software Economics:</vt:lpstr>
      <vt:lpstr>PowerPoint Presentation</vt:lpstr>
      <vt:lpstr>PowerPoint Presentation</vt:lpstr>
      <vt:lpstr>PowerPoint Presentation</vt:lpstr>
      <vt:lpstr>   Pragmatic Software Cost Estimation    </vt:lpstr>
      <vt:lpstr>PowerPoint Presentation</vt:lpstr>
      <vt:lpstr>PowerPoint Presentation</vt:lpstr>
      <vt:lpstr>Reducing software product size:</vt:lpstr>
      <vt:lpstr>Improving Software Processes:</vt:lpstr>
      <vt:lpstr>Improving team effectiveness:</vt:lpstr>
      <vt:lpstr>PowerPoint Presentation</vt:lpstr>
      <vt:lpstr>PowerPoint Presentation</vt:lpstr>
      <vt:lpstr>Improving automation:</vt:lpstr>
      <vt:lpstr>PowerPoint Presentation</vt:lpstr>
      <vt:lpstr>PowerPoint Presentation</vt:lpstr>
      <vt:lpstr>Achieving required quality:</vt:lpstr>
      <vt:lpstr>Peer inspections: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Project Management</dc:title>
  <dc:creator>complab</dc:creator>
  <cp:lastModifiedBy>Krishnateja Chalivendra</cp:lastModifiedBy>
  <cp:revision>194</cp:revision>
  <dcterms:created xsi:type="dcterms:W3CDTF">2006-08-16T00:00:00Z</dcterms:created>
  <dcterms:modified xsi:type="dcterms:W3CDTF">2025-12-06T08:15:54Z</dcterms:modified>
</cp:coreProperties>
</file>